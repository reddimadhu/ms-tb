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731520"/>
            <a:ext cx="4114800" cy="292608"/>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97316"/>
                </a:solidFill>
              </a:defRPr>
            </a:pPr>
            <a:r>
              <a:t>ARCHITECTURAL EVOLUTION · TECHNICAL DEEP DIVE</a:t>
            </a:r>
          </a:p>
        </p:txBody>
      </p:sp>
      <p:sp>
        <p:nvSpPr>
          <p:cNvPr id="4" name="TextBox 3"/>
          <p:cNvSpPr txBox="1"/>
          <p:nvPr/>
        </p:nvSpPr>
        <p:spPr>
          <a:xfrm>
            <a:off x="914400" y="1234440"/>
            <a:ext cx="10332720" cy="1463040"/>
          </a:xfrm>
          <a:prstGeom prst="rect">
            <a:avLst/>
          </a:prstGeom>
          <a:noFill/>
        </p:spPr>
        <p:txBody>
          <a:bodyPr wrap="square" lIns="0" tIns="0" rIns="0" bIns="0">
            <a:spAutoFit/>
          </a:bodyPr>
          <a:lstStyle/>
          <a:p>
            <a:pPr>
              <a:defRPr sz="3400" b="1">
                <a:solidFill>
                  <a:srgbClr val="FFFFFF"/>
                </a:solidFill>
              </a:defRPr>
            </a:pPr>
            <a:r>
              <a:t>A Deterministic Migration Operating System</a:t>
            </a:r>
          </a:p>
          <a:p>
            <a:pPr>
              <a:spcBef>
                <a:spcPts val="800"/>
              </a:spcBef>
              <a:defRPr sz="1400">
                <a:solidFill>
                  <a:srgbClr val="94A3B8"/>
                </a:solidFill>
              </a:defRPr>
            </a:pPr>
            <a:r>
              <a:t>Not "SAS to PySpark using LLM" — a verifiable migration runtime</a:t>
            </a:r>
            <a:br/>
            <a:r>
              <a:t>where the LLM is one replaceable reasoning component</a:t>
            </a:r>
          </a:p>
        </p:txBody>
      </p:sp>
      <p:sp>
        <p:nvSpPr>
          <p:cNvPr id="5" name="Rounded Rectangle 4"/>
          <p:cNvSpPr/>
          <p:nvPr/>
        </p:nvSpPr>
        <p:spPr>
          <a:xfrm>
            <a:off x="914400" y="2926080"/>
            <a:ext cx="10332720" cy="109728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3035808"/>
            <a:ext cx="9966960" cy="914400"/>
          </a:xfrm>
          <a:prstGeom prst="rect">
            <a:avLst/>
          </a:prstGeom>
          <a:noFill/>
        </p:spPr>
        <p:txBody>
          <a:bodyPr wrap="square" lIns="0" tIns="0" rIns="0" bIns="0">
            <a:spAutoFit/>
          </a:bodyPr>
          <a:lstStyle/>
          <a:p>
            <a:pPr>
              <a:defRPr sz="900" b="1">
                <a:solidFill>
                  <a:srgbClr val="F97316"/>
                </a:solidFill>
              </a:defRPr>
            </a:pPr>
            <a:r>
              <a:t>THE THESIS SHIFT</a:t>
            </a:r>
          </a:p>
          <a:p>
            <a:pPr>
              <a:spcBef>
                <a:spcPts val="400"/>
              </a:spcBef>
              <a:defRPr sz="1400">
                <a:solidFill>
                  <a:srgbClr val="FFFFFF"/>
                </a:solidFill>
              </a:defRPr>
            </a:pPr>
            <a:r>
              <a:rPr>
                <a:solidFill>
                  <a:srgbClr val="94A3B8"/>
                </a:solidFill>
              </a:rPr>
              <a:t>The LLM </a:t>
            </a:r>
            <a:r>
              <a:rPr b="1">
                <a:solidFill>
                  <a:srgbClr val="0EA5E9"/>
                </a:solidFill>
              </a:rPr>
              <a:t>proposes</a:t>
            </a:r>
            <a:r>
              <a:rPr>
                <a:solidFill>
                  <a:srgbClr val="94A3B8"/>
                </a:solidFill>
              </a:rPr>
              <a:t>.  The harness </a:t>
            </a:r>
            <a:r>
              <a:rPr b="1">
                <a:solidFill>
                  <a:srgbClr val="059669"/>
                </a:solidFill>
              </a:rPr>
              <a:t>executes</a:t>
            </a:r>
            <a:r>
              <a:rPr>
                <a:solidFill>
                  <a:srgbClr val="94A3B8"/>
                </a:solidFill>
              </a:rPr>
              <a:t>.  The reconciler </a:t>
            </a:r>
            <a:r>
              <a:rPr b="1">
                <a:solidFill>
                  <a:srgbClr val="2563EB"/>
                </a:solidFill>
              </a:rPr>
              <a:t>verifies</a:t>
            </a:r>
            <a:r>
              <a:rPr>
                <a:solidFill>
                  <a:srgbClr val="94A3B8"/>
                </a:solidFill>
              </a:rPr>
              <a:t>.  The event log </a:t>
            </a:r>
            <a:r>
              <a:rPr b="1">
                <a:solidFill>
                  <a:srgbClr val="4F46E5"/>
                </a:solidFill>
              </a:rPr>
              <a:t>proves</a:t>
            </a:r>
            <a:r>
              <a:rPr>
                <a:solidFill>
                  <a:srgbClr val="94A3B8"/>
                </a:solidFill>
              </a:rPr>
              <a:t>.</a:t>
            </a:r>
          </a:p>
        </p:txBody>
      </p:sp>
      <p:sp>
        <p:nvSpPr>
          <p:cNvPr id="7" name="Rounded Rectangle 6"/>
          <p:cNvSpPr/>
          <p:nvPr/>
        </p:nvSpPr>
        <p:spPr>
          <a:xfrm>
            <a:off x="914400" y="4251960"/>
            <a:ext cx="10332720" cy="64008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315968"/>
            <a:ext cx="9966960" cy="502920"/>
          </a:xfrm>
          <a:prstGeom prst="rect">
            <a:avLst/>
          </a:prstGeom>
          <a:noFill/>
        </p:spPr>
        <p:txBody>
          <a:bodyPr wrap="square" lIns="0" tIns="0" rIns="0" bIns="0">
            <a:spAutoFit/>
          </a:bodyPr>
          <a:lstStyle/>
          <a:p>
            <a:pPr>
              <a:defRPr sz="1100" b="1">
                <a:solidFill>
                  <a:srgbClr val="0EA5E9"/>
                </a:solidFill>
                <a:latin typeface="Consolas"/>
              </a:defRPr>
            </a:pPr>
            <a:r>
              <a:t>identity → state → policy → execution → evidence → verification → promotion</a:t>
            </a:r>
          </a:p>
          <a:p>
            <a:pPr>
              <a:spcBef>
                <a:spcPts val="200"/>
              </a:spcBef>
              <a:defRPr sz="1000">
                <a:solidFill>
                  <a:srgbClr val="94A3B8"/>
                </a:solidFill>
              </a:defRPr>
            </a:pPr>
            <a:r>
              <a:t>The harness owns the entire chain. The model touches only the proposal step.</a:t>
            </a:r>
          </a:p>
        </p:txBody>
      </p:sp>
      <p:sp>
        <p:nvSpPr>
          <p:cNvPr id="9" name="Rounded Rectangle 8"/>
          <p:cNvSpPr/>
          <p:nvPr/>
        </p:nvSpPr>
        <p:spPr>
          <a:xfrm>
            <a:off x="914400" y="5120640"/>
            <a:ext cx="2468880" cy="91440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193792"/>
            <a:ext cx="2194560" cy="777240"/>
          </a:xfrm>
          <a:prstGeom prst="rect">
            <a:avLst/>
          </a:prstGeom>
          <a:noFill/>
        </p:spPr>
        <p:txBody>
          <a:bodyPr wrap="square" lIns="0" tIns="0" rIns="0" bIns="0">
            <a:spAutoFit/>
          </a:bodyPr>
          <a:lstStyle/>
          <a:p>
            <a:pPr>
              <a:defRPr sz="1100" b="1">
                <a:solidFill>
                  <a:srgbClr val="4F46E5"/>
                </a:solidFill>
              </a:defRPr>
            </a:pPr>
            <a:r>
              <a:t>12 Frozen Invariants</a:t>
            </a:r>
          </a:p>
          <a:p>
            <a:pPr>
              <a:spcBef>
                <a:spcPts val="300"/>
              </a:spcBef>
              <a:defRPr sz="900">
                <a:solidFill>
                  <a:srgbClr val="94A3B8"/>
                </a:solidFill>
              </a:defRPr>
            </a:pPr>
            <a:r>
              <a:t>Architectural rules locked before any code</a:t>
            </a:r>
          </a:p>
        </p:txBody>
      </p:sp>
      <p:sp>
        <p:nvSpPr>
          <p:cNvPr id="11" name="Rounded Rectangle 10"/>
          <p:cNvSpPr/>
          <p:nvPr/>
        </p:nvSpPr>
        <p:spPr>
          <a:xfrm>
            <a:off x="3566160" y="5120640"/>
            <a:ext cx="2468880" cy="91440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3320" y="5193792"/>
            <a:ext cx="2194560" cy="777240"/>
          </a:xfrm>
          <a:prstGeom prst="rect">
            <a:avLst/>
          </a:prstGeom>
          <a:noFill/>
        </p:spPr>
        <p:txBody>
          <a:bodyPr wrap="square" lIns="0" tIns="0" rIns="0" bIns="0">
            <a:spAutoFit/>
          </a:bodyPr>
          <a:lstStyle/>
          <a:p>
            <a:pPr>
              <a:defRPr sz="1100" b="1">
                <a:solidFill>
                  <a:srgbClr val="2563EB"/>
                </a:solidFill>
              </a:defRPr>
            </a:pPr>
            <a:r>
              <a:t>Semantic IR</a:t>
            </a:r>
          </a:p>
          <a:p>
            <a:pPr>
              <a:spcBef>
                <a:spcPts val="300"/>
              </a:spcBef>
              <a:defRPr sz="900">
                <a:solidFill>
                  <a:srgbClr val="94A3B8"/>
                </a:solidFill>
              </a:defRPr>
            </a:pPr>
            <a:r>
              <a:t>SAS → IR → PySpark with full provenance</a:t>
            </a:r>
          </a:p>
        </p:txBody>
      </p:sp>
      <p:sp>
        <p:nvSpPr>
          <p:cNvPr id="13" name="Rounded Rectangle 12"/>
          <p:cNvSpPr/>
          <p:nvPr/>
        </p:nvSpPr>
        <p:spPr>
          <a:xfrm>
            <a:off x="6217920" y="5120640"/>
            <a:ext cx="2468880" cy="91440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5193792"/>
            <a:ext cx="2194560" cy="777240"/>
          </a:xfrm>
          <a:prstGeom prst="rect">
            <a:avLst/>
          </a:prstGeom>
          <a:noFill/>
        </p:spPr>
        <p:txBody>
          <a:bodyPr wrap="square" lIns="0" tIns="0" rIns="0" bIns="0">
            <a:spAutoFit/>
          </a:bodyPr>
          <a:lstStyle/>
          <a:p>
            <a:pPr>
              <a:defRPr sz="1100" b="1">
                <a:solidFill>
                  <a:srgbClr val="F97316"/>
                </a:solidFill>
              </a:defRPr>
            </a:pPr>
            <a:r>
              <a:t>Counterexample Engine</a:t>
            </a:r>
          </a:p>
          <a:p>
            <a:pPr>
              <a:spcBef>
                <a:spcPts val="300"/>
              </a:spcBef>
              <a:defRPr sz="900">
                <a:solidFill>
                  <a:srgbClr val="94A3B8"/>
                </a:solidFill>
              </a:defRPr>
            </a:pPr>
            <a:r>
              <a:t>Synthesized boundary tests, not LLM guessing</a:t>
            </a:r>
          </a:p>
        </p:txBody>
      </p:sp>
      <p:sp>
        <p:nvSpPr>
          <p:cNvPr id="15" name="Rounded Rectangle 14"/>
          <p:cNvSpPr/>
          <p:nvPr/>
        </p:nvSpPr>
        <p:spPr>
          <a:xfrm>
            <a:off x="8869680" y="5120640"/>
            <a:ext cx="2468880" cy="91440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06840" y="5193792"/>
            <a:ext cx="2194560" cy="777240"/>
          </a:xfrm>
          <a:prstGeom prst="rect">
            <a:avLst/>
          </a:prstGeom>
          <a:noFill/>
        </p:spPr>
        <p:txBody>
          <a:bodyPr wrap="square" lIns="0" tIns="0" rIns="0" bIns="0">
            <a:spAutoFit/>
          </a:bodyPr>
          <a:lstStyle/>
          <a:p>
            <a:pPr>
              <a:defRPr sz="1100" b="1">
                <a:solidFill>
                  <a:srgbClr val="059669"/>
                </a:solidFill>
              </a:defRPr>
            </a:pPr>
            <a:r>
              <a:t>False Parity Rate</a:t>
            </a:r>
          </a:p>
          <a:p>
            <a:pPr>
              <a:spcBef>
                <a:spcPts val="300"/>
              </a:spcBef>
              <a:defRPr sz="900">
                <a:solidFill>
                  <a:srgbClr val="94A3B8"/>
                </a:solidFill>
              </a:defRPr>
            </a:pPr>
            <a:r>
              <a:t>The metric that actually matters</a:t>
            </a:r>
          </a:p>
        </p:txBody>
      </p:sp>
      <p:sp>
        <p:nvSpPr>
          <p:cNvPr id="17" name="TextBox 16"/>
          <p:cNvSpPr txBox="1"/>
          <p:nvPr/>
        </p:nvSpPr>
        <p:spPr>
          <a:xfrm>
            <a:off x="731520" y="6473952"/>
            <a:ext cx="10698480" cy="228600"/>
          </a:xfrm>
          <a:prstGeom prst="rect">
            <a:avLst/>
          </a:prstGeom>
          <a:noFill/>
        </p:spPr>
        <p:txBody>
          <a:bodyPr wrap="none" lIns="0" tIns="0" rIns="0" bIns="0">
            <a:spAutoFit/>
          </a:bodyPr>
          <a:lstStyle/>
          <a:p>
            <a:pPr>
              <a:defRPr sz="800">
                <a:solidFill>
                  <a:srgbClr val="64748B"/>
                </a:solidFill>
              </a:defRPr>
            </a:pPr>
            <a:r>
              <a:t>SAS → PySpark Migration OS  ·  Architectural Evolution  ·  1/18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1 · THE FUNDAMENTAL THESIS SHIFT</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From AI Converter to Deterministic Migration Operating System</a:t>
            </a:r>
          </a:p>
          <a:p>
            <a:pPr>
              <a:spcBef>
                <a:spcPts val="300"/>
              </a:spcBef>
              <a:defRPr sz="1050">
                <a:solidFill>
                  <a:srgbClr val="64748B"/>
                </a:solidFill>
              </a:defRPr>
            </a:pPr>
            <a:r>
              <a:t>The conversation evolved from wrapping an LLM around SAS parsing to building a verifiable runtime.</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2/18</a:t>
            </a:r>
          </a:p>
        </p:txBody>
      </p:sp>
      <p:sp>
        <p:nvSpPr>
          <p:cNvPr id="6" name="Rounded Rectangle 5"/>
          <p:cNvSpPr/>
          <p:nvPr/>
        </p:nvSpPr>
        <p:spPr>
          <a:xfrm>
            <a:off x="731520" y="1600200"/>
            <a:ext cx="52120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2148840"/>
          </a:xfrm>
          <a:prstGeom prst="rect">
            <a:avLst/>
          </a:prstGeom>
          <a:noFill/>
        </p:spPr>
        <p:txBody>
          <a:bodyPr wrap="square" lIns="0" tIns="0" rIns="0" bIns="0">
            <a:spAutoFit/>
          </a:bodyPr>
          <a:lstStyle/>
          <a:p>
            <a:pPr>
              <a:spcAft>
                <a:spcPts val="600"/>
              </a:spcAft>
              <a:defRPr sz="1200" b="1">
                <a:solidFill>
                  <a:srgbClr val="E11D48"/>
                </a:solidFill>
              </a:defRPr>
            </a:pPr>
            <a:r>
              <a:t>WHAT WE STOPPED BUILDING</a:t>
            </a:r>
          </a:p>
          <a:p>
            <a:pPr>
              <a:spcBef>
                <a:spcPts val="100"/>
              </a:spcBef>
              <a:spcAft>
                <a:spcPts val="300"/>
              </a:spcAft>
              <a:defRPr sz="950"/>
            </a:pPr>
            <a:r>
              <a:rPr b="1" sz="950">
                <a:solidFill>
                  <a:srgbClr val="E11D48"/>
                </a:solidFill>
              </a:rPr>
              <a:t>▸ </a:t>
            </a:r>
            <a:r>
              <a:rPr sz="950">
                <a:solidFill>
                  <a:srgbClr val="0F172A"/>
                </a:solidFill>
              </a:rPr>
              <a:t>"A SAS converter with an agent loop around it"</a:t>
            </a:r>
          </a:p>
          <a:p>
            <a:pPr>
              <a:spcBef>
                <a:spcPts val="100"/>
              </a:spcBef>
              <a:spcAft>
                <a:spcPts val="300"/>
              </a:spcAft>
              <a:defRPr sz="950"/>
            </a:pPr>
            <a:r>
              <a:rPr b="1" sz="950">
                <a:solidFill>
                  <a:srgbClr val="E11D48"/>
                </a:solidFill>
              </a:rPr>
              <a:t>▸ </a:t>
            </a:r>
            <a:r>
              <a:rPr b="1" sz="950">
                <a:solidFill>
                  <a:srgbClr val="0F172A"/>
                </a:solidFill>
              </a:rPr>
              <a:t>LLM as Oracle: </a:t>
            </a:r>
            <a:r>
              <a:rPr sz="950">
                <a:solidFill>
                  <a:srgbClr val="0F172A"/>
                </a:solidFill>
              </a:rPr>
              <a:t>Model decides when output is correct. Self-attestation risk.</a:t>
            </a:r>
          </a:p>
          <a:p>
            <a:pPr>
              <a:spcBef>
                <a:spcPts val="100"/>
              </a:spcBef>
              <a:spcAft>
                <a:spcPts val="300"/>
              </a:spcAft>
              <a:defRPr sz="950"/>
            </a:pPr>
            <a:r>
              <a:rPr b="1" sz="950">
                <a:solidFill>
                  <a:srgbClr val="E11D48"/>
                </a:solidFill>
              </a:rPr>
              <a:t>▸ </a:t>
            </a:r>
            <a:r>
              <a:rPr b="1" sz="950">
                <a:solidFill>
                  <a:srgbClr val="0F172A"/>
                </a:solidFill>
              </a:rPr>
              <a:t>Chat-centric UX: </a:t>
            </a:r>
            <a:r>
              <a:rPr sz="950">
                <a:solidFill>
                  <a:srgbClr val="0F172A"/>
                </a:solidFill>
              </a:rPr>
              <a:t>Migration is a batch factory, not a conversation.</a:t>
            </a:r>
          </a:p>
          <a:p>
            <a:pPr>
              <a:spcBef>
                <a:spcPts val="100"/>
              </a:spcBef>
              <a:spcAft>
                <a:spcPts val="300"/>
              </a:spcAft>
              <a:defRPr sz="950"/>
            </a:pPr>
            <a:r>
              <a:rPr b="1" sz="950">
                <a:solidFill>
                  <a:srgbClr val="E11D48"/>
                </a:solidFill>
              </a:rPr>
              <a:t>▸ </a:t>
            </a:r>
            <a:r>
              <a:rPr b="1" sz="950">
                <a:solidFill>
                  <a:srgbClr val="0F172A"/>
                </a:solidFill>
              </a:rPr>
              <a:t>Monolithic Framework: </a:t>
            </a:r>
            <a:r>
              <a:rPr sz="950">
                <a:solidFill>
                  <a:srgbClr val="0F172A"/>
                </a:solidFill>
              </a:rPr>
              <a:t>All logic in one application class; untestable.</a:t>
            </a:r>
          </a:p>
        </p:txBody>
      </p:sp>
      <p:sp>
        <p:nvSpPr>
          <p:cNvPr id="8" name="Rounded Rectangle 7"/>
          <p:cNvSpPr/>
          <p:nvPr/>
        </p:nvSpPr>
        <p:spPr>
          <a:xfrm>
            <a:off x="6245352" y="1600200"/>
            <a:ext cx="5212080" cy="2377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2148840"/>
          </a:xfrm>
          <a:prstGeom prst="rect">
            <a:avLst/>
          </a:prstGeom>
          <a:noFill/>
        </p:spPr>
        <p:txBody>
          <a:bodyPr wrap="square" lIns="0" tIns="0" rIns="0" bIns="0">
            <a:spAutoFit/>
          </a:bodyPr>
          <a:lstStyle/>
          <a:p>
            <a:pPr>
              <a:spcAft>
                <a:spcPts val="600"/>
              </a:spcAft>
              <a:defRPr sz="1200" b="1">
                <a:solidFill>
                  <a:srgbClr val="059669"/>
                </a:solidFill>
              </a:defRPr>
            </a:pPr>
            <a:r>
              <a:t>WHAT WE ACTUALLY BUILD</a:t>
            </a:r>
          </a:p>
          <a:p>
            <a:pPr>
              <a:spcBef>
                <a:spcPts val="100"/>
              </a:spcBef>
              <a:spcAft>
                <a:spcPts val="300"/>
              </a:spcAft>
              <a:defRPr sz="950"/>
            </a:pPr>
            <a:r>
              <a:rPr b="1" sz="950">
                <a:solidFill>
                  <a:srgbClr val="059669"/>
                </a:solidFill>
              </a:rPr>
              <a:t>▸ </a:t>
            </a:r>
            <a:r>
              <a:rPr sz="950">
                <a:solidFill>
                  <a:srgbClr val="0F172A"/>
                </a:solidFill>
              </a:rPr>
              <a:t>"A deterministic migration OS with an LLM as one replaceable component"</a:t>
            </a:r>
          </a:p>
          <a:p>
            <a:pPr>
              <a:spcBef>
                <a:spcPts val="100"/>
              </a:spcBef>
              <a:spcAft>
                <a:spcPts val="300"/>
              </a:spcAft>
              <a:defRPr sz="950"/>
            </a:pPr>
            <a:r>
              <a:rPr b="1" sz="950">
                <a:solidFill>
                  <a:srgbClr val="059669"/>
                </a:solidFill>
              </a:rPr>
              <a:t>▸ </a:t>
            </a:r>
            <a:r>
              <a:rPr b="1" sz="950">
                <a:solidFill>
                  <a:srgbClr val="0F172A"/>
                </a:solidFill>
              </a:rPr>
              <a:t>LLM as Adviser: </a:t>
            </a:r>
            <a:r>
              <a:rPr sz="950">
                <a:solidFill>
                  <a:srgbClr val="0F172A"/>
                </a:solidFill>
              </a:rPr>
              <a:t>Model proposes candidates. Independent engines verify. Reconciler decides.</a:t>
            </a:r>
          </a:p>
          <a:p>
            <a:pPr>
              <a:spcBef>
                <a:spcPts val="100"/>
              </a:spcBef>
              <a:spcAft>
                <a:spcPts val="300"/>
              </a:spcAft>
              <a:defRPr sz="950"/>
            </a:pPr>
            <a:r>
              <a:rPr b="1" sz="950">
                <a:solidFill>
                  <a:srgbClr val="059669"/>
                </a:solidFill>
              </a:rPr>
              <a:t>▸ </a:t>
            </a:r>
            <a:r>
              <a:rPr b="1" sz="950">
                <a:solidFill>
                  <a:srgbClr val="0F172A"/>
                </a:solidFill>
              </a:rPr>
              <a:t>Batch Factory: </a:t>
            </a:r>
            <a:r>
              <a:rPr sz="950">
                <a:solidFill>
                  <a:srgbClr val="0F172A"/>
                </a:solidFill>
              </a:rPr>
              <a:t>Queue → Worker → Session → Evidence. Each session isolated.</a:t>
            </a:r>
          </a:p>
          <a:p>
            <a:pPr>
              <a:spcBef>
                <a:spcPts val="100"/>
              </a:spcBef>
              <a:spcAft>
                <a:spcPts val="300"/>
              </a:spcAft>
              <a:defRPr sz="950"/>
            </a:pPr>
            <a:r>
              <a:rPr b="1" sz="950">
                <a:solidFill>
                  <a:srgbClr val="059669"/>
                </a:solidFill>
              </a:rPr>
              <a:t>▸ </a:t>
            </a:r>
            <a:r>
              <a:rPr b="1" sz="950">
                <a:solidFill>
                  <a:srgbClr val="0F172A"/>
                </a:solidFill>
              </a:rPr>
              <a:t>Microkernel: </a:t>
            </a:r>
            <a:r>
              <a:rPr sz="950">
                <a:solidFill>
                  <a:srgbClr val="0F172A"/>
                </a:solidFill>
              </a:rPr>
              <a:t>kernel / contracts / domain / plugins. Replace any layer independently.</a:t>
            </a:r>
          </a:p>
        </p:txBody>
      </p:sp>
      <p:sp>
        <p:nvSpPr>
          <p:cNvPr id="10" name="Rounded Rectangle 9"/>
          <p:cNvSpPr/>
          <p:nvPr/>
        </p:nvSpPr>
        <p:spPr>
          <a:xfrm>
            <a:off x="731520" y="4160520"/>
            <a:ext cx="10698480" cy="7772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33672"/>
            <a:ext cx="10424160" cy="640080"/>
          </a:xfrm>
          <a:prstGeom prst="rect">
            <a:avLst/>
          </a:prstGeom>
          <a:noFill/>
        </p:spPr>
        <p:txBody>
          <a:bodyPr wrap="square" lIns="0" tIns="0" rIns="0" bIns="0">
            <a:spAutoFit/>
          </a:bodyPr>
          <a:lstStyle/>
          <a:p>
            <a:pPr>
              <a:defRPr sz="900" b="1">
                <a:solidFill>
                  <a:srgbClr val="4F46E5"/>
                </a:solidFill>
              </a:defRPr>
            </a:pPr>
            <a:r>
              <a:t>THE NON-OBVIOUS TRADEOFF</a:t>
            </a:r>
          </a:p>
          <a:p>
            <a:pPr>
              <a:spcBef>
                <a:spcPts val="200"/>
              </a:spcBef>
              <a:defRPr sz="950">
                <a:solidFill>
                  <a:srgbClr val="0F172A"/>
                </a:solidFill>
              </a:defRPr>
            </a:pPr>
            <a:r>
              <a:t>This means the LLM never touches the migration state machine. It cannot skip states, bypass reconciliation, or declare success. The harness controls all state transitions — which means slower initial development but eliminates an entire class of hallucination-driven failures.</a:t>
            </a:r>
          </a:p>
        </p:txBody>
      </p:sp>
      <p:sp>
        <p:nvSpPr>
          <p:cNvPr id="12" name="Rounded Rectangle 11"/>
          <p:cNvSpPr/>
          <p:nvPr/>
        </p:nvSpPr>
        <p:spPr>
          <a:xfrm>
            <a:off x="731520" y="5120640"/>
            <a:ext cx="1069848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193792"/>
            <a:ext cx="10332720" cy="960120"/>
          </a:xfrm>
          <a:prstGeom prst="rect">
            <a:avLst/>
          </a:prstGeom>
          <a:noFill/>
        </p:spPr>
        <p:txBody>
          <a:bodyPr wrap="square" lIns="0" tIns="0" rIns="0" bIns="0">
            <a:spAutoFit/>
          </a:bodyPr>
          <a:lstStyle/>
          <a:p>
            <a:pPr>
              <a:spcAft>
                <a:spcPts val="600"/>
              </a:spcAft>
              <a:defRPr sz="1000" b="1">
                <a:solidFill>
                  <a:srgbClr val="4F46E5"/>
                </a:solidFill>
              </a:defRPr>
            </a:pPr>
            <a:r>
              <a:t>EXPLICIT AUTHORITY HIERARCHY  (highest → lowest)</a:t>
            </a:r>
          </a:p>
          <a:p>
            <a:pPr>
              <a:spcBef>
                <a:spcPts val="100"/>
              </a:spcBef>
              <a:spcAft>
                <a:spcPts val="100"/>
              </a:spcAft>
              <a:defRPr sz="1000">
                <a:solidFill>
                  <a:srgbClr val="4F46E5"/>
                </a:solidFill>
                <a:latin typeface="Consolas"/>
              </a:defRPr>
            </a:pPr>
            <a:r>
              <a:t>Reconciliation result  →  Deterministic tests  →  Execution result  →  Policy/guard  →  Static analysis  →  Model reasoning</a:t>
            </a:r>
          </a:p>
          <a:p>
            <a:pPr>
              <a:spcBef>
                <a:spcPts val="400"/>
              </a:spcBef>
              <a:defRPr sz="950">
                <a:solidFill>
                  <a:srgbClr val="64748B"/>
                </a:solidFill>
              </a:defRPr>
            </a:pPr>
            <a:r>
              <a:t>The model is at the bottom. A model claim of "outputs match" has zero authority.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2 · KERNEL ARCHITECTURE</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The Kernel Must Know Nothing About SAS, Spark, or Reconciliation</a:t>
            </a:r>
          </a:p>
          <a:p>
            <a:pPr>
              <a:spcBef>
                <a:spcPts val="300"/>
              </a:spcBef>
              <a:defRPr sz="1050">
                <a:solidFill>
                  <a:srgbClr val="64748B"/>
                </a:solidFill>
              </a:defRPr>
            </a:pPr>
            <a:r>
              <a:t>Strict 4-layer separation: kernel → contracts → domain → plugins. The kernel hosts capabilities; it doesn't understand them.</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3/18</a:t>
            </a:r>
          </a:p>
        </p:txBody>
      </p:sp>
      <p:sp>
        <p:nvSpPr>
          <p:cNvPr id="6" name="Rounded Rectangle 5"/>
          <p:cNvSpPr/>
          <p:nvPr/>
        </p:nvSpPr>
        <p:spPr>
          <a:xfrm>
            <a:off x="731520"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4389120"/>
          </a:xfrm>
          <a:prstGeom prst="rect">
            <a:avLst/>
          </a:prstGeom>
          <a:noFill/>
        </p:spPr>
        <p:txBody>
          <a:bodyPr wrap="square" lIns="0" tIns="0" rIns="0" bIns="0">
            <a:spAutoFit/>
          </a:bodyPr>
          <a:lstStyle/>
          <a:p>
            <a:pPr>
              <a:spcAft>
                <a:spcPts val="600"/>
              </a:spcAft>
              <a:defRPr sz="1200" b="1">
                <a:solidFill>
                  <a:srgbClr val="4F46E5"/>
                </a:solidFill>
              </a:defRPr>
            </a:pPr>
            <a:r>
              <a:t>THE 4-LAYER BOUNDARY</a:t>
            </a:r>
          </a:p>
          <a:p>
            <a:pPr>
              <a:spcBef>
                <a:spcPts val="100"/>
              </a:spcBef>
              <a:spcAft>
                <a:spcPts val="300"/>
              </a:spcAft>
              <a:defRPr sz="950"/>
            </a:pPr>
            <a:r>
              <a:rPr b="1" sz="950">
                <a:solidFill>
                  <a:srgbClr val="4F46E5"/>
                </a:solidFill>
              </a:rPr>
              <a:t>▸ </a:t>
            </a:r>
            <a:r>
              <a:rPr b="1" sz="950">
                <a:solidFill>
                  <a:srgbClr val="0F172A"/>
                </a:solidFill>
              </a:rPr>
              <a:t>kernel/: </a:t>
            </a:r>
            <a:r>
              <a:rPr sz="950">
                <a:solidFill>
                  <a:srgbClr val="0F172A"/>
                </a:solidFill>
              </a:rPr>
              <a:t>Plugin runtime, context, lifecycle, events, session, persistence contract. Generic runtime — zero domain imports.</a:t>
            </a:r>
          </a:p>
          <a:p>
            <a:pPr>
              <a:spcBef>
                <a:spcPts val="100"/>
              </a:spcBef>
              <a:spcAft>
                <a:spcPts val="300"/>
              </a:spcAft>
              <a:defRPr sz="950"/>
            </a:pPr>
            <a:r>
              <a:rPr b="1" sz="950">
                <a:solidFill>
                  <a:srgbClr val="2563EB"/>
                </a:solidFill>
              </a:rPr>
              <a:t>▸ </a:t>
            </a:r>
            <a:r>
              <a:rPr b="1" sz="950">
                <a:solidFill>
                  <a:srgbClr val="0F172A"/>
                </a:solidFill>
              </a:rPr>
              <a:t>contracts/: </a:t>
            </a:r>
            <a:r>
              <a:rPr sz="950">
                <a:solidFill>
                  <a:srgbClr val="0F172A"/>
                </a:solidFill>
              </a:rPr>
              <a:t>model, tool, sandbox, executor, artifact, reconciliation, repair, skill, approval, scheduler. Typed capability seams.</a:t>
            </a:r>
          </a:p>
          <a:p>
            <a:pPr>
              <a:spcBef>
                <a:spcPts val="100"/>
              </a:spcBef>
              <a:spcAft>
                <a:spcPts val="300"/>
              </a:spcAft>
              <a:defRPr sz="950"/>
            </a:pPr>
            <a:r>
              <a:rPr b="1" sz="950">
                <a:solidFill>
                  <a:srgbClr val="F97316"/>
                </a:solidFill>
              </a:rPr>
              <a:t>▸ </a:t>
            </a:r>
            <a:r>
              <a:rPr b="1" sz="950">
                <a:solidFill>
                  <a:srgbClr val="0F172A"/>
                </a:solidFill>
              </a:rPr>
              <a:t>domain/: </a:t>
            </a:r>
            <a:r>
              <a:rPr sz="950">
                <a:solidFill>
                  <a:srgbClr val="0F172A"/>
                </a:solidFill>
              </a:rPr>
              <a:t>migration, sas_ir, sas_semantics, reconciliation, repair, metrics, evidence. Migration intelligence layer.</a:t>
            </a:r>
          </a:p>
          <a:p>
            <a:pPr>
              <a:spcBef>
                <a:spcPts val="100"/>
              </a:spcBef>
              <a:spcAft>
                <a:spcPts val="300"/>
              </a:spcAft>
              <a:defRPr sz="950"/>
            </a:pPr>
            <a:r>
              <a:rPr b="1" sz="950">
                <a:solidFill>
                  <a:srgbClr val="059669"/>
                </a:solidFill>
              </a:rPr>
              <a:t>▸ </a:t>
            </a:r>
            <a:r>
              <a:rPr b="1" sz="950">
                <a:solidFill>
                  <a:srgbClr val="0F172A"/>
                </a:solidFill>
              </a:rPr>
              <a:t>plugins/: </a:t>
            </a:r>
            <a:r>
              <a:rPr sz="950">
                <a:solidFill>
                  <a:srgbClr val="0F172A"/>
                </a:solidFill>
              </a:rPr>
              <a:t>Concrete implementations: OpenAI, DatabricksExecutor, DockerSandbox, SchemaReconciler, etc. Swappable.</a:t>
            </a:r>
          </a:p>
          <a:p>
            <a:pPr>
              <a:spcBef>
                <a:spcPts val="600"/>
              </a:spcBef>
            </a:pPr>
          </a:p>
          <a:p>
            <a:pPr>
              <a:spcBef>
                <a:spcPts val="100"/>
              </a:spcBef>
              <a:spcAft>
                <a:spcPts val="300"/>
              </a:spcAft>
              <a:defRPr sz="950"/>
            </a:pPr>
            <a:r>
              <a:rPr b="1" sz="950">
                <a:solidFill>
                  <a:srgbClr val="7C3AED"/>
                </a:solidFill>
              </a:rPr>
              <a:t>▸ </a:t>
            </a:r>
            <a:r>
              <a:rPr b="1" sz="950">
                <a:solidFill>
                  <a:srgbClr val="0F172A"/>
                </a:solidFill>
              </a:rPr>
              <a:t>WHY THIS MATTERS: </a:t>
            </a:r>
            <a:r>
              <a:rPr sz="950">
                <a:solidFill>
                  <a:srgbClr val="0F172A"/>
                </a:solidFill>
              </a:rPr>
              <a:t>RepairLoop never imports DatabricksExecutor. It resolves an Executor capability through the context. Changing Docker → Databricks → local never requires rewriting migration logic.</a:t>
            </a:r>
          </a:p>
        </p:txBody>
      </p:sp>
      <p:sp>
        <p:nvSpPr>
          <p:cNvPr id="8" name="Rounded Rectangle 7"/>
          <p:cNvSpPr/>
          <p:nvPr/>
        </p:nvSpPr>
        <p:spPr>
          <a:xfrm>
            <a:off x="6245352" y="160020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4389120"/>
          </a:xfrm>
          <a:prstGeom prst="rect">
            <a:avLst/>
          </a:prstGeom>
          <a:noFill/>
        </p:spPr>
        <p:txBody>
          <a:bodyPr wrap="square" lIns="0" tIns="0" rIns="0" bIns="0">
            <a:spAutoFit/>
          </a:bodyPr>
          <a:lstStyle/>
          <a:p>
            <a:pPr>
              <a:spcAft>
                <a:spcPts val="600"/>
              </a:spcAft>
              <a:defRPr sz="1200" b="1">
                <a:solidFill>
                  <a:srgbClr val="2563EB"/>
                </a:solidFill>
              </a:defRPr>
            </a:pPr>
            <a:r>
              <a:t>CAPABILITY RESOLUTION (NOT IMPORTS)</a:t>
            </a:r>
          </a:p>
          <a:p>
            <a:pPr>
              <a:spcBef>
                <a:spcPts val="100"/>
              </a:spcBef>
              <a:spcAft>
                <a:spcPts val="100"/>
              </a:spcAft>
              <a:defRPr sz="900">
                <a:solidFill>
                  <a:srgbClr val="0F172A"/>
                </a:solidFill>
                <a:latin typeface="Consolas"/>
              </a:defRPr>
            </a:pPr>
            <a:r>
              <a:t># WRONG — tight coupling</a:t>
            </a:r>
          </a:p>
          <a:p>
            <a:pPr>
              <a:spcBef>
                <a:spcPts val="100"/>
              </a:spcBef>
              <a:spcAft>
                <a:spcPts val="100"/>
              </a:spcAft>
              <a:defRPr sz="900">
                <a:solidFill>
                  <a:srgbClr val="0F172A"/>
                </a:solidFill>
                <a:latin typeface="Consolas"/>
              </a:defRPr>
            </a:pPr>
            <a:r>
              <a:t>from plugins.tools.recon import ReconEngine</a:t>
            </a:r>
          </a:p>
          <a:p>
            <a:pPr>
              <a:spcBef>
                <a:spcPts val="100"/>
              </a:spcBef>
              <a:spcAft>
                <a:spcPts val="100"/>
              </a:spcAft>
              <a:defRPr sz="900">
                <a:solidFill>
                  <a:srgbClr val="0F172A"/>
                </a:solidFill>
                <a:latin typeface="Consolas"/>
              </a:defRPr>
            </a:pPr>
          </a:p>
          <a:p>
            <a:pPr>
              <a:spcBef>
                <a:spcPts val="100"/>
              </a:spcBef>
              <a:spcAft>
                <a:spcPts val="100"/>
              </a:spcAft>
              <a:defRPr sz="900">
                <a:solidFill>
                  <a:srgbClr val="0F172A"/>
                </a:solidFill>
                <a:latin typeface="Consolas"/>
              </a:defRPr>
            </a:pPr>
            <a:r>
              <a:t># RIGHT — capability resolution</a:t>
            </a:r>
          </a:p>
          <a:p>
            <a:pPr>
              <a:spcBef>
                <a:spcPts val="100"/>
              </a:spcBef>
              <a:spcAft>
                <a:spcPts val="100"/>
              </a:spcAft>
              <a:defRPr sz="900">
                <a:solidFill>
                  <a:srgbClr val="0F172A"/>
                </a:solidFill>
                <a:latin typeface="Consolas"/>
              </a:defRPr>
            </a:pPr>
            <a:r>
              <a:t>tool = context.services.require("reconciliation")</a:t>
            </a:r>
          </a:p>
          <a:p>
            <a:pPr>
              <a:spcBef>
                <a:spcPts val="100"/>
              </a:spcBef>
              <a:spcAft>
                <a:spcPts val="100"/>
              </a:spcAft>
              <a:defRPr sz="900">
                <a:solidFill>
                  <a:srgbClr val="0F172A"/>
                </a:solidFill>
                <a:latin typeface="Consolas"/>
              </a:defRPr>
            </a:pPr>
          </a:p>
          <a:p>
            <a:pPr>
              <a:spcBef>
                <a:spcPts val="800"/>
              </a:spcBef>
              <a:defRPr sz="1000" b="1">
                <a:solidFill>
                  <a:srgbClr val="2563EB"/>
                </a:solidFill>
              </a:defRPr>
            </a:pPr>
            <a:r>
              <a:t>Every capability has:</a:t>
            </a:r>
          </a:p>
          <a:p>
            <a:pPr>
              <a:spcBef>
                <a:spcPts val="100"/>
              </a:spcBef>
              <a:spcAft>
                <a:spcPts val="100"/>
              </a:spcAft>
              <a:defRPr sz="900">
                <a:solidFill>
                  <a:srgbClr val="0F172A"/>
                </a:solidFill>
                <a:latin typeface="Consolas"/>
              </a:defRPr>
            </a:pPr>
            <a:r>
              <a:t>contract → provider → consumer → policy → events</a:t>
            </a:r>
          </a:p>
          <a:p>
            <a:pPr>
              <a:spcBef>
                <a:spcPts val="600"/>
              </a:spcBef>
            </a:pPr>
          </a:p>
          <a:p>
            <a:pPr>
              <a:spcBef>
                <a:spcPts val="100"/>
              </a:spcBef>
              <a:spcAft>
                <a:spcPts val="300"/>
              </a:spcAft>
              <a:defRPr sz="950"/>
            </a:pPr>
            <a:r>
              <a:rPr b="1" sz="950">
                <a:solidFill>
                  <a:srgbClr val="D97706"/>
                </a:solidFill>
              </a:rPr>
              <a:t>▸ </a:t>
            </a:r>
            <a:r>
              <a:rPr b="1" sz="950">
                <a:solidFill>
                  <a:srgbClr val="0F172A"/>
                </a:solidFill>
              </a:rPr>
              <a:t>TRADEOFF: </a:t>
            </a:r>
            <a:r>
              <a:rPr sz="950">
                <a:solidFill>
                  <a:srgbClr val="0F172A"/>
                </a:solidFill>
              </a:rPr>
              <a:t>More indirection and boilerplate upfront. But: replacing OpenAI with DeepSeek, Docker with Databricks, Postgres with another event store never touches migration logic.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3 · EVENT ARCHITECTURE</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Event Dispatch Semantics Are Architectural, Not Implementation Detail</a:t>
            </a:r>
          </a:p>
          <a:p>
            <a:pPr>
              <a:spcBef>
                <a:spcPts val="300"/>
              </a:spcBef>
              <a:defRPr sz="1050">
                <a:solidFill>
                  <a:srgbClr val="64748B"/>
                </a:solidFill>
              </a:defRPr>
            </a:pPr>
            <a:r>
              <a:t>Five distinct dispatch modes borrowed from Cordis/DeepSeek, each serving a different contract purpose.</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4/18</a:t>
            </a:r>
          </a:p>
        </p:txBody>
      </p:sp>
      <p:sp>
        <p:nvSpPr>
          <p:cNvPr id="6" name="Rounded Rectangle 5"/>
          <p:cNvSpPr/>
          <p:nvPr/>
        </p:nvSpPr>
        <p:spPr>
          <a:xfrm>
            <a:off x="731520" y="1600200"/>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83080"/>
            <a:ext cx="1280160" cy="43891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EMIT</a:t>
            </a:r>
          </a:p>
        </p:txBody>
      </p:sp>
      <p:sp>
        <p:nvSpPr>
          <p:cNvPr id="8" name="TextBox 7"/>
          <p:cNvSpPr txBox="1"/>
          <p:nvPr/>
        </p:nvSpPr>
        <p:spPr>
          <a:xfrm>
            <a:off x="2286000" y="1709928"/>
            <a:ext cx="8961120" cy="640080"/>
          </a:xfrm>
          <a:prstGeom prst="rect">
            <a:avLst/>
          </a:prstGeom>
          <a:noFill/>
        </p:spPr>
        <p:txBody>
          <a:bodyPr wrap="square" lIns="0" tIns="0" rIns="0" bIns="0">
            <a:spAutoFit/>
          </a:bodyPr>
          <a:lstStyle/>
          <a:p>
            <a:pPr>
              <a:defRPr sz="1100" b="1">
                <a:solidFill>
                  <a:srgbClr val="4F46E5"/>
                </a:solidFill>
              </a:defRPr>
            </a:pPr>
            <a:r>
              <a:t>Observe</a:t>
            </a:r>
            <a:r>
              <a:rPr b="0">
                <a:solidFill>
                  <a:srgbClr val="0F172A"/>
                </a:solidFill>
              </a:rPr>
              <a:t>  —  Fire-and-forget notification. Listeners cannot influence the outcome.</a:t>
            </a:r>
          </a:p>
          <a:p>
            <a:pPr>
              <a:spcBef>
                <a:spcPts val="200"/>
              </a:spcBef>
              <a:defRPr sz="900">
                <a:solidFill>
                  <a:srgbClr val="64748B"/>
                </a:solidFill>
              </a:defRPr>
            </a:pPr>
            <a:r>
              <a:t>Example: audit logging, metrics, telemetry</a:t>
            </a:r>
          </a:p>
        </p:txBody>
      </p:sp>
      <p:sp>
        <p:nvSpPr>
          <p:cNvPr id="9" name="Rounded Rectangle 8"/>
          <p:cNvSpPr/>
          <p:nvPr/>
        </p:nvSpPr>
        <p:spPr>
          <a:xfrm>
            <a:off x="731520" y="2487168"/>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2670048"/>
            <a:ext cx="1280160" cy="43891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PARALLEL</a:t>
            </a:r>
          </a:p>
        </p:txBody>
      </p:sp>
      <p:sp>
        <p:nvSpPr>
          <p:cNvPr id="11" name="TextBox 10"/>
          <p:cNvSpPr txBox="1"/>
          <p:nvPr/>
        </p:nvSpPr>
        <p:spPr>
          <a:xfrm>
            <a:off x="2286000" y="2596896"/>
            <a:ext cx="8961120" cy="640080"/>
          </a:xfrm>
          <a:prstGeom prst="rect">
            <a:avLst/>
          </a:prstGeom>
          <a:noFill/>
        </p:spPr>
        <p:txBody>
          <a:bodyPr wrap="square" lIns="0" tIns="0" rIns="0" bIns="0">
            <a:spAutoFit/>
          </a:bodyPr>
          <a:lstStyle/>
          <a:p>
            <a:pPr>
              <a:defRPr sz="1100" b="1">
                <a:solidFill>
                  <a:srgbClr val="2563EB"/>
                </a:solidFill>
              </a:defRPr>
            </a:pPr>
            <a:r>
              <a:t>Fan-out</a:t>
            </a:r>
            <a:r>
              <a:rPr b="0">
                <a:solidFill>
                  <a:srgbClr val="0F172A"/>
                </a:solidFill>
              </a:rPr>
              <a:t>  —  All listeners execute concurrently. No ordering guarantee.</a:t>
            </a:r>
          </a:p>
          <a:p>
            <a:pPr>
              <a:spcBef>
                <a:spcPts val="200"/>
              </a:spcBef>
              <a:defRPr sz="900">
                <a:solidFill>
                  <a:srgbClr val="64748B"/>
                </a:solidFill>
              </a:defRPr>
            </a:pPr>
            <a:r>
              <a:t>Example: broadcast notifications, cache invalidation</a:t>
            </a:r>
          </a:p>
        </p:txBody>
      </p:sp>
      <p:sp>
        <p:nvSpPr>
          <p:cNvPr id="12" name="Rounded Rectangle 11"/>
          <p:cNvSpPr/>
          <p:nvPr/>
        </p:nvSpPr>
        <p:spPr>
          <a:xfrm>
            <a:off x="731520" y="3374136"/>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557016"/>
            <a:ext cx="1280160" cy="438912"/>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SERIAL</a:t>
            </a:r>
          </a:p>
        </p:txBody>
      </p:sp>
      <p:sp>
        <p:nvSpPr>
          <p:cNvPr id="14" name="TextBox 13"/>
          <p:cNvSpPr txBox="1"/>
          <p:nvPr/>
        </p:nvSpPr>
        <p:spPr>
          <a:xfrm>
            <a:off x="2286000" y="3483864"/>
            <a:ext cx="8961120" cy="640080"/>
          </a:xfrm>
          <a:prstGeom prst="rect">
            <a:avLst/>
          </a:prstGeom>
          <a:noFill/>
        </p:spPr>
        <p:txBody>
          <a:bodyPr wrap="square" lIns="0" tIns="0" rIns="0" bIns="0">
            <a:spAutoFit/>
          </a:bodyPr>
          <a:lstStyle/>
          <a:p>
            <a:pPr>
              <a:defRPr sz="1100" b="1">
                <a:solidFill>
                  <a:srgbClr val="F97316"/>
                </a:solidFill>
              </a:defRPr>
            </a:pPr>
            <a:r>
              <a:t>Ordered</a:t>
            </a:r>
            <a:r>
              <a:rPr b="0">
                <a:solidFill>
                  <a:srgbClr val="0F172A"/>
                </a:solidFill>
              </a:rPr>
              <a:t>  —  Listeners execute in registration order. Each sees the previous result.</a:t>
            </a:r>
          </a:p>
          <a:p>
            <a:pPr>
              <a:spcBef>
                <a:spcPts val="200"/>
              </a:spcBef>
              <a:defRPr sz="900">
                <a:solidFill>
                  <a:srgbClr val="64748B"/>
                </a:solidFill>
              </a:defRPr>
            </a:pPr>
            <a:r>
              <a:t>Example: policy chain, validation pipeline</a:t>
            </a:r>
          </a:p>
        </p:txBody>
      </p:sp>
      <p:sp>
        <p:nvSpPr>
          <p:cNvPr id="15" name="Rounded Rectangle 14"/>
          <p:cNvSpPr/>
          <p:nvPr/>
        </p:nvSpPr>
        <p:spPr>
          <a:xfrm>
            <a:off x="731520" y="4261104"/>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4443984"/>
            <a:ext cx="1280160" cy="43891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BAIL</a:t>
            </a:r>
          </a:p>
        </p:txBody>
      </p:sp>
      <p:sp>
        <p:nvSpPr>
          <p:cNvPr id="17" name="TextBox 16"/>
          <p:cNvSpPr txBox="1"/>
          <p:nvPr/>
        </p:nvSpPr>
        <p:spPr>
          <a:xfrm>
            <a:off x="2286000" y="4370832"/>
            <a:ext cx="8961120" cy="640080"/>
          </a:xfrm>
          <a:prstGeom prst="rect">
            <a:avLst/>
          </a:prstGeom>
          <a:noFill/>
        </p:spPr>
        <p:txBody>
          <a:bodyPr wrap="square" lIns="0" tIns="0" rIns="0" bIns="0">
            <a:spAutoFit/>
          </a:bodyPr>
          <a:lstStyle/>
          <a:p>
            <a:pPr>
              <a:defRPr sz="1100" b="1">
                <a:solidFill>
                  <a:srgbClr val="E11D48"/>
                </a:solidFill>
              </a:defRPr>
            </a:pPr>
            <a:r>
              <a:t>Decision</a:t>
            </a:r>
            <a:r>
              <a:rPr b="0">
                <a:solidFill>
                  <a:srgbClr val="0F172A"/>
                </a:solidFill>
              </a:rPr>
              <a:t>  —  Execution stops when a listener returns a decision (accept/reject).</a:t>
            </a:r>
          </a:p>
          <a:p>
            <a:pPr>
              <a:spcBef>
                <a:spcPts val="200"/>
              </a:spcBef>
              <a:defRPr sz="900">
                <a:solidFill>
                  <a:srgbClr val="64748B"/>
                </a:solidFill>
              </a:defRPr>
            </a:pPr>
            <a:r>
              <a:t>Example: approval checks, guard evaluation</a:t>
            </a:r>
          </a:p>
        </p:txBody>
      </p:sp>
      <p:sp>
        <p:nvSpPr>
          <p:cNvPr id="18" name="Rounded Rectangle 17"/>
          <p:cNvSpPr/>
          <p:nvPr/>
        </p:nvSpPr>
        <p:spPr>
          <a:xfrm>
            <a:off x="731520" y="5148072"/>
            <a:ext cx="10698480" cy="80467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5330952"/>
            <a:ext cx="1280160" cy="43891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WATERFALL</a:t>
            </a:r>
          </a:p>
        </p:txBody>
      </p:sp>
      <p:sp>
        <p:nvSpPr>
          <p:cNvPr id="20" name="TextBox 19"/>
          <p:cNvSpPr txBox="1"/>
          <p:nvPr/>
        </p:nvSpPr>
        <p:spPr>
          <a:xfrm>
            <a:off x="2286000" y="5257800"/>
            <a:ext cx="8961120" cy="640080"/>
          </a:xfrm>
          <a:prstGeom prst="rect">
            <a:avLst/>
          </a:prstGeom>
          <a:noFill/>
        </p:spPr>
        <p:txBody>
          <a:bodyPr wrap="square" lIns="0" tIns="0" rIns="0" bIns="0">
            <a:spAutoFit/>
          </a:bodyPr>
          <a:lstStyle/>
          <a:p>
            <a:pPr>
              <a:defRPr sz="1100" b="1">
                <a:solidFill>
                  <a:srgbClr val="059669"/>
                </a:solidFill>
              </a:defRPr>
            </a:pPr>
            <a:r>
              <a:t>Transform</a:t>
            </a:r>
            <a:r>
              <a:rPr b="0">
                <a:solidFill>
                  <a:srgbClr val="0F172A"/>
                </a:solidFill>
              </a:rPr>
              <a:t>  —  Each listener can transform/wrap the result for the next listener.</a:t>
            </a:r>
          </a:p>
          <a:p>
            <a:pPr>
              <a:spcBef>
                <a:spcPts val="200"/>
              </a:spcBef>
              <a:defRPr sz="900">
                <a:solidFill>
                  <a:srgbClr val="64748B"/>
                </a:solidFill>
              </a:defRPr>
            </a:pPr>
            <a:r>
              <a:t>Example: tool execution pipeline, reconciliation chains</a:t>
            </a:r>
          </a:p>
        </p:txBody>
      </p:sp>
      <p:sp>
        <p:nvSpPr>
          <p:cNvPr id="21" name="Rounded Rectangle 20"/>
          <p:cNvSpPr/>
          <p:nvPr/>
        </p:nvSpPr>
        <p:spPr>
          <a:xfrm>
            <a:off x="731520" y="5989320"/>
            <a:ext cx="10698480" cy="36576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6062472"/>
            <a:ext cx="10424160" cy="228600"/>
          </a:xfrm>
          <a:prstGeom prst="rect">
            <a:avLst/>
          </a:prstGeom>
          <a:noFill/>
        </p:spPr>
        <p:txBody>
          <a:bodyPr wrap="square" lIns="0" tIns="0" rIns="0" bIns="0">
            <a:spAutoFit/>
          </a:bodyPr>
          <a:lstStyle/>
          <a:p>
            <a:pPr>
              <a:defRPr sz="900" b="1">
                <a:solidFill>
                  <a:srgbClr val="4F46E5"/>
                </a:solidFill>
              </a:defRPr>
            </a:pPr>
          </a:p>
          <a:p>
            <a:pPr>
              <a:spcBef>
                <a:spcPts val="200"/>
              </a:spcBef>
              <a:defRPr sz="950">
                <a:solidFill>
                  <a:srgbClr val="4F46E5"/>
                </a:solidFill>
              </a:defRPr>
            </a:pPr>
            <a:r>
              <a:t>WHY THIS IS NON-OBVIOUS: The waterfall mode is what makes the tool execution pipeline composable — policy, approval, guards, sandbox, sanitization all chain without the loop knowing who inserted which capability.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4 · THE SEMANTIC IR</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The Divergence Point From General-Purpose Agent Harnesses</a:t>
            </a:r>
          </a:p>
          <a:p>
            <a:pPr>
              <a:spcBef>
                <a:spcPts val="300"/>
              </a:spcBef>
              <a:defRPr sz="1050">
                <a:solidFill>
                  <a:srgbClr val="64748B"/>
                </a:solidFill>
              </a:defRPr>
            </a:pPr>
            <a:r>
              <a:t>Instead of SAS → LLM → PySpark, an intermediate representation enables precise failure localization and hybrid translation.</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5/18</a:t>
            </a:r>
          </a:p>
        </p:txBody>
      </p:sp>
      <p:sp>
        <p:nvSpPr>
          <p:cNvPr id="6" name="Rounded Rectangle 5"/>
          <p:cNvSpPr/>
          <p:nvPr/>
        </p:nvSpPr>
        <p:spPr>
          <a:xfrm>
            <a:off x="731520" y="160020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2103120"/>
          </a:xfrm>
          <a:prstGeom prst="rect">
            <a:avLst/>
          </a:prstGeom>
          <a:noFill/>
        </p:spPr>
        <p:txBody>
          <a:bodyPr wrap="square" lIns="0" tIns="0" rIns="0" bIns="0">
            <a:spAutoFit/>
          </a:bodyPr>
          <a:lstStyle/>
          <a:p>
            <a:pPr>
              <a:spcAft>
                <a:spcPts val="600"/>
              </a:spcAft>
              <a:defRPr sz="1200" b="1">
                <a:solidFill>
                  <a:srgbClr val="E11D48"/>
                </a:solidFill>
              </a:defRPr>
            </a:pPr>
            <a:r>
              <a:t>NAIVE PIPELINE (REJECTED)</a:t>
            </a:r>
          </a:p>
          <a:p>
            <a:pPr>
              <a:spcBef>
                <a:spcPts val="100"/>
              </a:spcBef>
              <a:spcAft>
                <a:spcPts val="100"/>
              </a:spcAft>
              <a:defRPr sz="900">
                <a:solidFill>
                  <a:srgbClr val="E11D48"/>
                </a:solidFill>
                <a:latin typeface="Consolas"/>
              </a:defRPr>
            </a:pPr>
            <a:r>
              <a:t>SAS source  →  LLM  →  PySpark</a:t>
            </a:r>
          </a:p>
          <a:p>
            <a:pPr>
              <a:spcBef>
                <a:spcPts val="400"/>
              </a:spcBef>
            </a:pPr>
          </a:p>
          <a:p>
            <a:pPr>
              <a:spcBef>
                <a:spcPts val="100"/>
              </a:spcBef>
              <a:spcAft>
                <a:spcPts val="300"/>
              </a:spcAft>
              <a:defRPr sz="950"/>
            </a:pPr>
            <a:r>
              <a:rPr b="1" sz="950">
                <a:solidFill>
                  <a:srgbClr val="E11D48"/>
                </a:solidFill>
              </a:rPr>
              <a:t>▸ </a:t>
            </a:r>
            <a:r>
              <a:rPr b="1" sz="950">
                <a:solidFill>
                  <a:srgbClr val="0F172A"/>
                </a:solidFill>
              </a:rPr>
              <a:t>Problem: </a:t>
            </a:r>
            <a:r>
              <a:rPr sz="950">
                <a:solidFill>
                  <a:srgbClr val="0F172A"/>
                </a:solidFill>
              </a:rPr>
              <a:t>No provenance. When reconciliation fails, you only know "PySpark output doesn't match SAS." Zero diagnostic signal.</a:t>
            </a:r>
          </a:p>
        </p:txBody>
      </p:sp>
      <p:sp>
        <p:nvSpPr>
          <p:cNvPr id="8" name="Rounded Rectangle 7"/>
          <p:cNvSpPr/>
          <p:nvPr/>
        </p:nvSpPr>
        <p:spPr>
          <a:xfrm>
            <a:off x="6245352" y="1600200"/>
            <a:ext cx="521208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2103120"/>
          </a:xfrm>
          <a:prstGeom prst="rect">
            <a:avLst/>
          </a:prstGeom>
          <a:noFill/>
        </p:spPr>
        <p:txBody>
          <a:bodyPr wrap="square" lIns="0" tIns="0" rIns="0" bIns="0">
            <a:spAutoFit/>
          </a:bodyPr>
          <a:lstStyle/>
          <a:p>
            <a:pPr>
              <a:spcAft>
                <a:spcPts val="600"/>
              </a:spcAft>
              <a:defRPr sz="1200" b="1">
                <a:solidFill>
                  <a:srgbClr val="059669"/>
                </a:solidFill>
              </a:defRPr>
            </a:pPr>
            <a:r>
              <a:t>IR-MEDIATED PIPELINE (ADOPTED)</a:t>
            </a:r>
          </a:p>
          <a:p>
            <a:pPr>
              <a:spcBef>
                <a:spcPts val="100"/>
              </a:spcBef>
              <a:spcAft>
                <a:spcPts val="100"/>
              </a:spcAft>
              <a:defRPr sz="900">
                <a:solidFill>
                  <a:srgbClr val="059669"/>
                </a:solidFill>
                <a:latin typeface="Consolas"/>
              </a:defRPr>
            </a:pPr>
            <a:r>
              <a:t>SAS → Parser → Semantic IR → Translation → PySpark</a:t>
            </a:r>
          </a:p>
          <a:p>
            <a:pPr>
              <a:spcBef>
                <a:spcPts val="400"/>
              </a:spcBef>
            </a:pPr>
          </a:p>
          <a:p>
            <a:pPr>
              <a:spcBef>
                <a:spcPts val="100"/>
              </a:spcBef>
              <a:spcAft>
                <a:spcPts val="300"/>
              </a:spcAft>
              <a:defRPr sz="950"/>
            </a:pPr>
            <a:r>
              <a:rPr b="1" sz="950">
                <a:solidFill>
                  <a:srgbClr val="059669"/>
                </a:solidFill>
              </a:rPr>
              <a:t>▸ </a:t>
            </a:r>
            <a:r>
              <a:rPr b="1" sz="950">
                <a:solidFill>
                  <a:srgbClr val="0F172A"/>
                </a:solidFill>
              </a:rPr>
              <a:t>Result: </a:t>
            </a:r>
            <a:r>
              <a:rPr sz="950">
                <a:solidFill>
                  <a:srgbClr val="0F172A"/>
                </a:solidFill>
              </a:rPr>
              <a:t>Mismatch at row-level traces to IR node #341 → SAS BY-group boundary semantics → SAS lines 31-41 → PySpark lines 88-103.</a:t>
            </a:r>
          </a:p>
        </p:txBody>
      </p:sp>
      <p:sp>
        <p:nvSpPr>
          <p:cNvPr id="10" name="Rounded Rectangle 9"/>
          <p:cNvSpPr/>
          <p:nvPr/>
        </p:nvSpPr>
        <p:spPr>
          <a:xfrm>
            <a:off x="731520" y="4069080"/>
            <a:ext cx="1069848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160520"/>
            <a:ext cx="10332720" cy="1965960"/>
          </a:xfrm>
          <a:prstGeom prst="rect">
            <a:avLst/>
          </a:prstGeom>
          <a:noFill/>
        </p:spPr>
        <p:txBody>
          <a:bodyPr wrap="square" lIns="0" tIns="0" rIns="0" bIns="0">
            <a:spAutoFit/>
          </a:bodyPr>
          <a:lstStyle/>
          <a:p>
            <a:pPr>
              <a:spcAft>
                <a:spcPts val="600"/>
              </a:spcAft>
              <a:defRPr sz="1200" b="1">
                <a:solidFill>
                  <a:srgbClr val="2563EB"/>
                </a:solidFill>
              </a:defRPr>
            </a:pPr>
            <a:r>
              <a:t>WHAT THE IR CARRIES PER NODE</a:t>
            </a:r>
          </a:p>
          <a:p>
            <a:pPr>
              <a:spcAft>
                <a:spcPts val="100"/>
              </a:spcAft>
              <a:defRPr sz="950"/>
            </a:pPr>
            <a:r>
              <a:rPr b="1">
                <a:solidFill>
                  <a:srgbClr val="2563EB"/>
                </a:solidFill>
                <a:latin typeface="Consolas"/>
              </a:rPr>
              <a:t>  source_span: </a:t>
            </a:r>
            <a:r>
              <a:rPr>
                <a:solidFill>
                  <a:srgbClr val="0F172A"/>
                </a:solidFill>
                <a:latin typeface="Consolas"/>
              </a:rPr>
              <a:t>SAS line 73-81</a:t>
            </a:r>
          </a:p>
          <a:p>
            <a:pPr>
              <a:spcAft>
                <a:spcPts val="100"/>
              </a:spcAft>
              <a:defRPr sz="950"/>
            </a:pPr>
            <a:r>
              <a:rPr b="1">
                <a:solidFill>
                  <a:srgbClr val="2563EB"/>
                </a:solidFill>
                <a:latin typeface="Consolas"/>
              </a:rPr>
              <a:t>  semantic_construct: </a:t>
            </a:r>
            <a:r>
              <a:rPr>
                <a:solidFill>
                  <a:srgbClr val="0F172A"/>
                </a:solidFill>
                <a:latin typeface="Consolas"/>
              </a:rPr>
              <a:t>BY-group accumulation</a:t>
            </a:r>
          </a:p>
          <a:p>
            <a:pPr>
              <a:spcAft>
                <a:spcPts val="100"/>
              </a:spcAft>
              <a:defRPr sz="950"/>
            </a:pPr>
            <a:r>
              <a:rPr b="1">
                <a:solidFill>
                  <a:srgbClr val="2563EB"/>
                </a:solidFill>
                <a:latin typeface="Consolas"/>
              </a:rPr>
              <a:t>  input_dependencies: </a:t>
            </a:r>
            <a:r>
              <a:rPr>
                <a:solidFill>
                  <a:srgbClr val="0F172A"/>
                </a:solidFill>
                <a:latin typeface="Consolas"/>
              </a:rPr>
              <a:t>[dataset.customer_id, dataset.balance]</a:t>
            </a:r>
          </a:p>
          <a:p>
            <a:pPr>
              <a:spcAft>
                <a:spcPts val="100"/>
              </a:spcAft>
              <a:defRPr sz="950"/>
            </a:pPr>
            <a:r>
              <a:rPr b="1">
                <a:solidFill>
                  <a:srgbClr val="2563EB"/>
                </a:solidFill>
                <a:latin typeface="Consolas"/>
              </a:rPr>
              <a:t>  output_dependencies: </a:t>
            </a:r>
            <a:r>
              <a:rPr>
                <a:solidFill>
                  <a:srgbClr val="0F172A"/>
                </a:solidFill>
                <a:latin typeface="Consolas"/>
              </a:rPr>
              <a:t>[running_total, final_total]</a:t>
            </a:r>
          </a:p>
          <a:p>
            <a:pPr>
              <a:spcAft>
                <a:spcPts val="100"/>
              </a:spcAft>
              <a:defRPr sz="950"/>
            </a:pPr>
            <a:r>
              <a:rPr b="1">
                <a:solidFill>
                  <a:srgbClr val="2563EB"/>
                </a:solidFill>
                <a:latin typeface="Consolas"/>
              </a:rPr>
              <a:t>  translation_rule: </a:t>
            </a:r>
            <a:r>
              <a:rPr>
                <a:solidFill>
                  <a:srgbClr val="0F172A"/>
                </a:solidFill>
                <a:latin typeface="Consolas"/>
              </a:rPr>
              <a:t>SAS-BY-004 (deterministic) or LLM-repair-002</a:t>
            </a:r>
          </a:p>
          <a:p>
            <a:pPr>
              <a:spcAft>
                <a:spcPts val="100"/>
              </a:spcAft>
              <a:defRPr sz="950"/>
            </a:pPr>
            <a:r>
              <a:rPr b="1">
                <a:solidFill>
                  <a:srgbClr val="2563EB"/>
                </a:solidFill>
                <a:latin typeface="Consolas"/>
              </a:rPr>
              <a:t>  confidence: </a:t>
            </a:r>
            <a:r>
              <a:rPr>
                <a:solidFill>
                  <a:srgbClr val="0F172A"/>
                </a:solidFill>
                <a:latin typeface="Consolas"/>
              </a:rPr>
              <a:t>0.95 (rule) or 0.72 (LLM-generated)</a:t>
            </a:r>
          </a:p>
          <a:p>
            <a:pPr>
              <a:spcAft>
                <a:spcPts val="100"/>
              </a:spcAft>
              <a:defRPr sz="950"/>
            </a:pPr>
            <a:r>
              <a:rPr b="1">
                <a:solidFill>
                  <a:srgbClr val="2563EB"/>
                </a:solidFill>
                <a:latin typeface="Consolas"/>
              </a:rPr>
              <a:t>  pyspark_span: </a:t>
            </a:r>
            <a:r>
              <a:rPr>
                <a:solidFill>
                  <a:srgbClr val="0F172A"/>
                </a:solidFill>
                <a:latin typeface="Consolas"/>
              </a:rPr>
              <a:t>lines 201-228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4B · HYBRID TRANSLATION</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Rule Engine + LLM Fallback: The Model Handles Only Ambiguity</a:t>
            </a:r>
          </a:p>
          <a:p>
            <a:pPr>
              <a:spcBef>
                <a:spcPts val="300"/>
              </a:spcBef>
              <a:defRPr sz="1050">
                <a:solidFill>
                  <a:srgbClr val="64748B"/>
                </a:solidFill>
              </a:defRPr>
            </a:pPr>
            <a:r>
              <a:t>Well-known transforms go through deterministic rules. The LLM only touches ambiguous semantics and business logic.</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6/18</a:t>
            </a:r>
          </a:p>
        </p:txBody>
      </p:sp>
      <p:sp>
        <p:nvSpPr>
          <p:cNvPr id="6" name="Rounded Rectangle 5"/>
          <p:cNvSpPr/>
          <p:nvPr/>
        </p:nvSpPr>
        <p:spPr>
          <a:xfrm>
            <a:off x="731520" y="1600200"/>
            <a:ext cx="685800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6492240" cy="4389120"/>
          </a:xfrm>
          <a:prstGeom prst="rect">
            <a:avLst/>
          </a:prstGeom>
          <a:noFill/>
        </p:spPr>
        <p:txBody>
          <a:bodyPr wrap="square" lIns="0" tIns="0" rIns="0" bIns="0">
            <a:spAutoFit/>
          </a:bodyPr>
          <a:lstStyle/>
          <a:p>
            <a:pPr>
              <a:spcAft>
                <a:spcPts val="600"/>
              </a:spcAft>
              <a:defRPr sz="1200" b="1">
                <a:solidFill>
                  <a:srgbClr val="2563EB"/>
                </a:solidFill>
              </a:defRPr>
            </a:pPr>
            <a:r>
              <a:t>TRANSLATION PIPELINE</a:t>
            </a:r>
          </a:p>
          <a:p>
            <a:pPr>
              <a:spcBef>
                <a:spcPts val="100"/>
              </a:spcBef>
              <a:spcAft>
                <a:spcPts val="100"/>
              </a:spcAft>
              <a:defRPr sz="900">
                <a:solidFill>
                  <a:srgbClr val="0F172A"/>
                </a:solidFill>
                <a:latin typeface="Consolas"/>
              </a:defRPr>
            </a:pPr>
            <a:r>
              <a:t>SAS source</a:t>
            </a:r>
          </a:p>
          <a:p>
            <a:pPr>
              <a:spcBef>
                <a:spcPts val="100"/>
              </a:spcBef>
              <a:spcAft>
                <a:spcPts val="100"/>
              </a:spcAft>
              <a:defRPr sz="900">
                <a:solidFill>
                  <a:srgbClr val="0F172A"/>
                </a:solidFill>
                <a:latin typeface="Consolas"/>
              </a:defRPr>
            </a:pPr>
            <a:r>
              <a:t>    ↓  Macro resolution / preprocessing</a:t>
            </a:r>
          </a:p>
          <a:p>
            <a:pPr>
              <a:spcBef>
                <a:spcPts val="100"/>
              </a:spcBef>
              <a:spcAft>
                <a:spcPts val="100"/>
              </a:spcAft>
              <a:defRPr sz="900">
                <a:solidFill>
                  <a:srgbClr val="0F172A"/>
                </a:solidFill>
                <a:latin typeface="Consolas"/>
              </a:defRPr>
            </a:pPr>
            <a:r>
              <a:t>    ↓  Parser</a:t>
            </a:r>
          </a:p>
          <a:p>
            <a:pPr>
              <a:spcBef>
                <a:spcPts val="100"/>
              </a:spcBef>
              <a:spcAft>
                <a:spcPts val="100"/>
              </a:spcAft>
              <a:defRPr sz="900">
                <a:solidFill>
                  <a:srgbClr val="0F172A"/>
                </a:solidFill>
                <a:latin typeface="Consolas"/>
              </a:defRPr>
            </a:pPr>
            <a:r>
              <a:t>    ↓  Semantic IR</a:t>
            </a:r>
          </a:p>
          <a:p>
            <a:pPr>
              <a:spcBef>
                <a:spcPts val="100"/>
              </a:spcBef>
              <a:spcAft>
                <a:spcPts val="100"/>
              </a:spcAft>
              <a:defRPr sz="900">
                <a:solidFill>
                  <a:srgbClr val="2563EB"/>
                </a:solidFill>
                <a:latin typeface="Consolas"/>
              </a:defRPr>
            </a:pPr>
            <a:r>
              <a:t>    ├── Known construct  →  Rule engine (deterministic)</a:t>
            </a:r>
          </a:p>
          <a:p>
            <a:pPr>
              <a:spcBef>
                <a:spcPts val="100"/>
              </a:spcBef>
              <a:spcAft>
                <a:spcPts val="100"/>
              </a:spcAft>
              <a:defRPr sz="900">
                <a:solidFill>
                  <a:srgbClr val="2563EB"/>
                </a:solidFill>
                <a:latin typeface="Consolas"/>
              </a:defRPr>
            </a:pPr>
            <a:r>
              <a:t>    └── Unknown/ambiguous  →  LLM (structured proposal)</a:t>
            </a:r>
          </a:p>
          <a:p>
            <a:pPr>
              <a:spcBef>
                <a:spcPts val="100"/>
              </a:spcBef>
              <a:spcAft>
                <a:spcPts val="100"/>
              </a:spcAft>
              <a:defRPr sz="900">
                <a:solidFill>
                  <a:srgbClr val="0F172A"/>
                </a:solidFill>
                <a:latin typeface="Consolas"/>
              </a:defRPr>
            </a:pPr>
            <a:r>
              <a:t>    ↓  IR completion + merge</a:t>
            </a:r>
          </a:p>
          <a:p>
            <a:pPr>
              <a:spcBef>
                <a:spcPts val="100"/>
              </a:spcBef>
              <a:spcAft>
                <a:spcPts val="100"/>
              </a:spcAft>
              <a:defRPr sz="900">
                <a:solidFill>
                  <a:srgbClr val="0F172A"/>
                </a:solidFill>
                <a:latin typeface="Consolas"/>
              </a:defRPr>
            </a:pPr>
            <a:r>
              <a:t>    ↓  PySpark emitter</a:t>
            </a:r>
          </a:p>
          <a:p>
            <a:pPr>
              <a:spcBef>
                <a:spcPts val="100"/>
              </a:spcBef>
              <a:spcAft>
                <a:spcPts val="100"/>
              </a:spcAft>
              <a:defRPr sz="900">
                <a:solidFill>
                  <a:srgbClr val="0F172A"/>
                </a:solidFill>
                <a:latin typeface="Consolas"/>
              </a:defRPr>
            </a:pPr>
            <a:r>
              <a:t>    ↓  Static validation</a:t>
            </a:r>
          </a:p>
          <a:p>
            <a:pPr>
              <a:spcBef>
                <a:spcPts val="100"/>
              </a:spcBef>
              <a:spcAft>
                <a:spcPts val="100"/>
              </a:spcAft>
              <a:defRPr sz="900">
                <a:solidFill>
                  <a:srgbClr val="0F172A"/>
                </a:solidFill>
                <a:latin typeface="Consolas"/>
              </a:defRPr>
            </a:pPr>
            <a:r>
              <a:t>    ↓  TRANSLATION CANDIDATE (not 'successful migration')</a:t>
            </a:r>
          </a:p>
        </p:txBody>
      </p:sp>
      <p:sp>
        <p:nvSpPr>
          <p:cNvPr id="8" name="Rounded Rectangle 7"/>
          <p:cNvSpPr/>
          <p:nvPr/>
        </p:nvSpPr>
        <p:spPr>
          <a:xfrm>
            <a:off x="7863840" y="1600200"/>
            <a:ext cx="3566160" cy="2103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01000" y="1719072"/>
            <a:ext cx="3291840" cy="1920240"/>
          </a:xfrm>
          <a:prstGeom prst="rect">
            <a:avLst/>
          </a:prstGeom>
          <a:noFill/>
        </p:spPr>
        <p:txBody>
          <a:bodyPr wrap="square" lIns="0" tIns="0" rIns="0" bIns="0">
            <a:spAutoFit/>
          </a:bodyPr>
          <a:lstStyle/>
          <a:p>
            <a:pPr>
              <a:spcAft>
                <a:spcPts val="600"/>
              </a:spcAft>
              <a:defRPr sz="1000" b="1">
                <a:solidFill>
                  <a:srgbClr val="059669"/>
                </a:solidFill>
              </a:defRPr>
            </a:pPr>
            <a:r>
              <a:t>DETERMINISTIC HANDLES</a:t>
            </a:r>
          </a:p>
          <a:p>
            <a:pPr>
              <a:spcBef>
                <a:spcPts val="100"/>
              </a:spcBef>
              <a:spcAft>
                <a:spcPts val="300"/>
              </a:spcAft>
              <a:defRPr sz="900"/>
            </a:pPr>
            <a:r>
              <a:rPr b="1" sz="900">
                <a:solidFill>
                  <a:srgbClr val="059669"/>
                </a:solidFill>
              </a:rPr>
              <a:t>▸ </a:t>
            </a:r>
            <a:r>
              <a:rPr sz="900">
                <a:solidFill>
                  <a:srgbClr val="0F172A"/>
                </a:solidFill>
              </a:rPr>
              <a:t>syntax normalization</a:t>
            </a:r>
          </a:p>
          <a:p>
            <a:pPr>
              <a:spcBef>
                <a:spcPts val="100"/>
              </a:spcBef>
              <a:spcAft>
                <a:spcPts val="300"/>
              </a:spcAft>
              <a:defRPr sz="900"/>
            </a:pPr>
            <a:r>
              <a:rPr b="1" sz="900">
                <a:solidFill>
                  <a:srgbClr val="059669"/>
                </a:solidFill>
              </a:rPr>
              <a:t>▸ </a:t>
            </a:r>
            <a:r>
              <a:rPr sz="900">
                <a:solidFill>
                  <a:srgbClr val="0F172A"/>
                </a:solidFill>
              </a:rPr>
              <a:t>schema propagation</a:t>
            </a:r>
          </a:p>
          <a:p>
            <a:pPr>
              <a:spcBef>
                <a:spcPts val="100"/>
              </a:spcBef>
              <a:spcAft>
                <a:spcPts val="300"/>
              </a:spcAft>
              <a:defRPr sz="900"/>
            </a:pPr>
            <a:r>
              <a:rPr b="1" sz="900">
                <a:solidFill>
                  <a:srgbClr val="059669"/>
                </a:solidFill>
              </a:rPr>
              <a:t>▸ </a:t>
            </a:r>
            <a:r>
              <a:rPr sz="900">
                <a:solidFill>
                  <a:srgbClr val="0F172A"/>
                </a:solidFill>
              </a:rPr>
              <a:t>lineage tracking</a:t>
            </a:r>
          </a:p>
          <a:p>
            <a:pPr>
              <a:spcBef>
                <a:spcPts val="100"/>
              </a:spcBef>
              <a:spcAft>
                <a:spcPts val="300"/>
              </a:spcAft>
              <a:defRPr sz="900"/>
            </a:pPr>
            <a:r>
              <a:rPr b="1" sz="900">
                <a:solidFill>
                  <a:srgbClr val="059669"/>
                </a:solidFill>
              </a:rPr>
              <a:t>▸ </a:t>
            </a:r>
            <a:r>
              <a:rPr sz="900">
                <a:solidFill>
                  <a:srgbClr val="0F172A"/>
                </a:solidFill>
              </a:rPr>
              <a:t>well-known SAS procs</a:t>
            </a:r>
          </a:p>
          <a:p>
            <a:pPr>
              <a:spcBef>
                <a:spcPts val="100"/>
              </a:spcBef>
              <a:spcAft>
                <a:spcPts val="300"/>
              </a:spcAft>
              <a:defRPr sz="900"/>
            </a:pPr>
            <a:r>
              <a:rPr b="1" sz="900">
                <a:solidFill>
                  <a:srgbClr val="059669"/>
                </a:solidFill>
              </a:rPr>
              <a:t>▸ </a:t>
            </a:r>
            <a:r>
              <a:rPr sz="900">
                <a:solidFill>
                  <a:srgbClr val="0F172A"/>
                </a:solidFill>
              </a:rPr>
              <a:t>type mapping</a:t>
            </a:r>
          </a:p>
          <a:p>
            <a:pPr>
              <a:spcBef>
                <a:spcPts val="100"/>
              </a:spcBef>
              <a:spcAft>
                <a:spcPts val="300"/>
              </a:spcAft>
              <a:defRPr sz="900"/>
            </a:pPr>
            <a:r>
              <a:rPr b="1" sz="900">
                <a:solidFill>
                  <a:srgbClr val="059669"/>
                </a:solidFill>
              </a:rPr>
              <a:t>▸ </a:t>
            </a:r>
            <a:r>
              <a:rPr sz="900">
                <a:solidFill>
                  <a:srgbClr val="0F172A"/>
                </a:solidFill>
              </a:rPr>
              <a:t>artifact generation</a:t>
            </a:r>
          </a:p>
        </p:txBody>
      </p:sp>
      <p:sp>
        <p:nvSpPr>
          <p:cNvPr id="10" name="Rounded Rectangle 9"/>
          <p:cNvSpPr/>
          <p:nvPr/>
        </p:nvSpPr>
        <p:spPr>
          <a:xfrm>
            <a:off x="7863840" y="3886200"/>
            <a:ext cx="356616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01000" y="4005072"/>
            <a:ext cx="3291840" cy="2103120"/>
          </a:xfrm>
          <a:prstGeom prst="rect">
            <a:avLst/>
          </a:prstGeom>
          <a:noFill/>
        </p:spPr>
        <p:txBody>
          <a:bodyPr wrap="square" lIns="0" tIns="0" rIns="0" bIns="0">
            <a:spAutoFit/>
          </a:bodyPr>
          <a:lstStyle/>
          <a:p>
            <a:pPr>
              <a:spcAft>
                <a:spcPts val="600"/>
              </a:spcAft>
              <a:defRPr sz="1000" b="1">
                <a:solidFill>
                  <a:srgbClr val="D97706"/>
                </a:solidFill>
              </a:defRPr>
            </a:pPr>
            <a:r>
              <a:t>LLM HANDLES</a:t>
            </a:r>
          </a:p>
          <a:p>
            <a:pPr>
              <a:spcBef>
                <a:spcPts val="100"/>
              </a:spcBef>
              <a:spcAft>
                <a:spcPts val="300"/>
              </a:spcAft>
              <a:defRPr sz="900"/>
            </a:pPr>
            <a:r>
              <a:rPr b="1" sz="900">
                <a:solidFill>
                  <a:srgbClr val="D97706"/>
                </a:solidFill>
              </a:rPr>
              <a:t>▸ </a:t>
            </a:r>
            <a:r>
              <a:rPr sz="900">
                <a:solidFill>
                  <a:srgbClr val="0F172A"/>
                </a:solidFill>
              </a:rPr>
              <a:t>ambiguous BY-group semantics</a:t>
            </a:r>
          </a:p>
          <a:p>
            <a:pPr>
              <a:spcBef>
                <a:spcPts val="100"/>
              </a:spcBef>
              <a:spcAft>
                <a:spcPts val="300"/>
              </a:spcAft>
              <a:defRPr sz="900"/>
            </a:pPr>
            <a:r>
              <a:rPr b="1" sz="900">
                <a:solidFill>
                  <a:srgbClr val="D97706"/>
                </a:solidFill>
              </a:rPr>
              <a:t>▸ </a:t>
            </a:r>
            <a:r>
              <a:rPr sz="900">
                <a:solidFill>
                  <a:srgbClr val="0F172A"/>
                </a:solidFill>
              </a:rPr>
              <a:t>complex macro interpretation</a:t>
            </a:r>
          </a:p>
          <a:p>
            <a:pPr>
              <a:spcBef>
                <a:spcPts val="100"/>
              </a:spcBef>
              <a:spcAft>
                <a:spcPts val="300"/>
              </a:spcAft>
              <a:defRPr sz="900"/>
            </a:pPr>
            <a:r>
              <a:rPr b="1" sz="900">
                <a:solidFill>
                  <a:srgbClr val="D97706"/>
                </a:solidFill>
              </a:rPr>
              <a:t>▸ </a:t>
            </a:r>
            <a:r>
              <a:rPr sz="900">
                <a:solidFill>
                  <a:srgbClr val="0F172A"/>
                </a:solidFill>
              </a:rPr>
              <a:t>business logic intent</a:t>
            </a:r>
          </a:p>
          <a:p>
            <a:pPr>
              <a:spcBef>
                <a:spcPts val="100"/>
              </a:spcBef>
              <a:spcAft>
                <a:spcPts val="300"/>
              </a:spcAft>
              <a:defRPr sz="900"/>
            </a:pPr>
            <a:r>
              <a:rPr b="1" sz="900">
                <a:solidFill>
                  <a:srgbClr val="D97706"/>
                </a:solidFill>
              </a:rPr>
              <a:t>▸ </a:t>
            </a:r>
            <a:r>
              <a:rPr sz="900">
                <a:solidFill>
                  <a:srgbClr val="0F172A"/>
                </a:solidFill>
              </a:rPr>
              <a:t>unsupported PROC options</a:t>
            </a:r>
          </a:p>
          <a:p>
            <a:pPr>
              <a:spcBef>
                <a:spcPts val="100"/>
              </a:spcBef>
              <a:spcAft>
                <a:spcPts val="300"/>
              </a:spcAft>
              <a:defRPr sz="900"/>
            </a:pPr>
            <a:r>
              <a:rPr b="1" sz="900">
                <a:solidFill>
                  <a:srgbClr val="D97706"/>
                </a:solidFill>
              </a:rPr>
              <a:t>▸ </a:t>
            </a:r>
            <a:r>
              <a:rPr sz="900">
                <a:solidFill>
                  <a:srgbClr val="0F172A"/>
                </a:solidFill>
              </a:rPr>
              <a:t>edge-case coercion rules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5 · INPUT IDENTITY &amp; ENVIRONMENT FINGERPRINTING</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You Cannot Establish Parity Unless Both Systems Processed Equivalent Inputs</a:t>
            </a:r>
          </a:p>
          <a:p>
            <a:pPr>
              <a:spcBef>
                <a:spcPts val="300"/>
              </a:spcBef>
              <a:defRPr sz="1050">
                <a:solidFill>
                  <a:srgbClr val="64748B"/>
                </a:solidFill>
              </a:defRPr>
            </a:pPr>
            <a:r>
              <a:t>Snapshot-addressable inputs and environment fingerprints are prerequisites to any reconciliation claim.</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7/18</a:t>
            </a:r>
          </a:p>
        </p:txBody>
      </p:sp>
      <p:sp>
        <p:nvSpPr>
          <p:cNvPr id="6" name="Rounded Rectangle 5"/>
          <p:cNvSpPr/>
          <p:nvPr/>
        </p:nvSpPr>
        <p:spPr>
          <a:xfrm>
            <a:off x="731520" y="160020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2743200"/>
          </a:xfrm>
          <a:prstGeom prst="rect">
            <a:avLst/>
          </a:prstGeom>
          <a:noFill/>
        </p:spPr>
        <p:txBody>
          <a:bodyPr wrap="square" lIns="0" tIns="0" rIns="0" bIns="0">
            <a:spAutoFit/>
          </a:bodyPr>
          <a:lstStyle/>
          <a:p>
            <a:pPr>
              <a:spcAft>
                <a:spcPts val="600"/>
              </a:spcAft>
              <a:defRPr sz="1200" b="1">
                <a:solidFill>
                  <a:srgbClr val="2563EB"/>
                </a:solidFill>
              </a:defRPr>
            </a:pPr>
            <a:r>
              <a:t>INPUT SNAPSHOT IDENTITY</a:t>
            </a:r>
          </a:p>
          <a:p>
            <a:pPr>
              <a:spcAft>
                <a:spcPts val="100"/>
              </a:spcAft>
              <a:defRPr sz="950"/>
            </a:pPr>
            <a:r>
              <a:rPr b="1">
                <a:solidFill>
                  <a:srgbClr val="2563EB"/>
                </a:solidFill>
                <a:latin typeface="Consolas"/>
              </a:rPr>
              <a:t>  URI: </a:t>
            </a:r>
            <a:r>
              <a:rPr>
                <a:solidFill>
                  <a:srgbClr val="0F172A"/>
                </a:solidFill>
                <a:latin typeface="Consolas"/>
              </a:rPr>
              <a:t>s3://bucket/claims_2026Q3.csv</a:t>
            </a:r>
          </a:p>
          <a:p>
            <a:pPr>
              <a:spcAft>
                <a:spcPts val="100"/>
              </a:spcAft>
              <a:defRPr sz="950"/>
            </a:pPr>
            <a:r>
              <a:rPr b="1">
                <a:solidFill>
                  <a:srgbClr val="2563EB"/>
                </a:solidFill>
                <a:latin typeface="Consolas"/>
              </a:rPr>
              <a:t>  schema_hash: </a:t>
            </a:r>
            <a:r>
              <a:rPr>
                <a:solidFill>
                  <a:srgbClr val="0F172A"/>
                </a:solidFill>
                <a:latin typeface="Consolas"/>
              </a:rPr>
              <a:t>SHA-256 of column definitions</a:t>
            </a:r>
          </a:p>
          <a:p>
            <a:pPr>
              <a:spcAft>
                <a:spcPts val="100"/>
              </a:spcAft>
              <a:defRPr sz="950"/>
            </a:pPr>
            <a:r>
              <a:rPr b="1">
                <a:solidFill>
                  <a:srgbClr val="2563EB"/>
                </a:solidFill>
                <a:latin typeface="Consolas"/>
              </a:rPr>
              <a:t>  row_count: </a:t>
            </a:r>
            <a:r>
              <a:rPr>
                <a:solidFill>
                  <a:srgbClr val="0F172A"/>
                </a:solidFill>
                <a:latin typeface="Consolas"/>
              </a:rPr>
              <a:t>1,847,329</a:t>
            </a:r>
          </a:p>
          <a:p>
            <a:pPr>
              <a:spcAft>
                <a:spcPts val="100"/>
              </a:spcAft>
              <a:defRPr sz="950"/>
            </a:pPr>
            <a:r>
              <a:rPr b="1">
                <a:solidFill>
                  <a:srgbClr val="2563EB"/>
                </a:solidFill>
                <a:latin typeface="Consolas"/>
              </a:rPr>
              <a:t>  file_hash: </a:t>
            </a:r>
            <a:r>
              <a:rPr>
                <a:solidFill>
                  <a:srgbClr val="0F172A"/>
                </a:solidFill>
                <a:latin typeface="Consolas"/>
              </a:rPr>
              <a:t>SHA-256 of raw bytes</a:t>
            </a:r>
          </a:p>
          <a:p>
            <a:pPr>
              <a:spcAft>
                <a:spcPts val="100"/>
              </a:spcAft>
              <a:defRPr sz="950"/>
            </a:pPr>
            <a:r>
              <a:rPr b="1">
                <a:solidFill>
                  <a:srgbClr val="2563EB"/>
                </a:solidFill>
                <a:latin typeface="Consolas"/>
              </a:rPr>
              <a:t>  partition_manifest: </a:t>
            </a:r>
            <a:r>
              <a:rPr>
                <a:solidFill>
                  <a:srgbClr val="0F172A"/>
                </a:solidFill>
                <a:latin typeface="Consolas"/>
              </a:rPr>
              <a:t>[Q1, Q2, Q3]</a:t>
            </a:r>
          </a:p>
          <a:p>
            <a:pPr>
              <a:spcAft>
                <a:spcPts val="100"/>
              </a:spcAft>
              <a:defRPr sz="950"/>
            </a:pPr>
            <a:r>
              <a:rPr b="1">
                <a:solidFill>
                  <a:srgbClr val="2563EB"/>
                </a:solidFill>
                <a:latin typeface="Consolas"/>
              </a:rPr>
              <a:t>  extraction_timestamp: </a:t>
            </a:r>
            <a:r>
              <a:rPr>
                <a:solidFill>
                  <a:srgbClr val="0F172A"/>
                </a:solidFill>
                <a:latin typeface="Consolas"/>
              </a:rPr>
              <a:t>2026-09-23T14:00:00Z</a:t>
            </a:r>
          </a:p>
          <a:p>
            <a:pPr>
              <a:spcAft>
                <a:spcPts val="100"/>
              </a:spcAft>
              <a:defRPr sz="950"/>
            </a:pPr>
            <a:r>
              <a:rPr b="1">
                <a:solidFill>
                  <a:srgbClr val="2563EB"/>
                </a:solidFill>
                <a:latin typeface="Consolas"/>
              </a:rPr>
              <a:t>  encoding: </a:t>
            </a:r>
            <a:r>
              <a:rPr>
                <a:solidFill>
                  <a:srgbClr val="0F172A"/>
                </a:solidFill>
                <a:latin typeface="Consolas"/>
              </a:rPr>
              <a:t>UTF-8</a:t>
            </a:r>
          </a:p>
          <a:p>
            <a:pPr>
              <a:spcAft>
                <a:spcPts val="100"/>
              </a:spcAft>
              <a:defRPr sz="950"/>
            </a:pPr>
            <a:r>
              <a:rPr b="1">
                <a:solidFill>
                  <a:srgbClr val="2563EB"/>
                </a:solidFill>
                <a:latin typeface="Consolas"/>
              </a:rPr>
              <a:t>  snapshot_id: </a:t>
            </a:r>
            <a:r>
              <a:rPr>
                <a:solidFill>
                  <a:srgbClr val="0F172A"/>
                </a:solidFill>
                <a:latin typeface="Consolas"/>
              </a:rPr>
              <a:t>SNAP-2026-09-23-001</a:t>
            </a:r>
          </a:p>
        </p:txBody>
      </p:sp>
      <p:sp>
        <p:nvSpPr>
          <p:cNvPr id="8" name="Rounded Rectangle 7"/>
          <p:cNvSpPr/>
          <p:nvPr/>
        </p:nvSpPr>
        <p:spPr>
          <a:xfrm>
            <a:off x="6245352" y="1600200"/>
            <a:ext cx="5212080"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2743200"/>
          </a:xfrm>
          <a:prstGeom prst="rect">
            <a:avLst/>
          </a:prstGeom>
          <a:noFill/>
        </p:spPr>
        <p:txBody>
          <a:bodyPr wrap="square" lIns="0" tIns="0" rIns="0" bIns="0">
            <a:spAutoFit/>
          </a:bodyPr>
          <a:lstStyle/>
          <a:p>
            <a:pPr>
              <a:spcAft>
                <a:spcPts val="600"/>
              </a:spcAft>
              <a:defRPr sz="1200" b="1">
                <a:solidFill>
                  <a:srgbClr val="F97316"/>
                </a:solidFill>
              </a:defRPr>
            </a:pPr>
            <a:r>
              <a:t>ENVIRONMENT FINGERPRINT</a:t>
            </a:r>
          </a:p>
          <a:p>
            <a:pPr>
              <a:spcBef>
                <a:spcPts val="100"/>
              </a:spcBef>
              <a:spcAft>
                <a:spcPts val="300"/>
              </a:spcAft>
              <a:defRPr sz="950"/>
            </a:pPr>
            <a:r>
              <a:rPr b="1" sz="950">
                <a:solidFill>
                  <a:srgbClr val="F97316"/>
                </a:solidFill>
              </a:rPr>
              <a:t>▸ </a:t>
            </a:r>
            <a:r>
              <a:rPr sz="950">
                <a:solidFill>
                  <a:srgbClr val="0F172A"/>
                </a:solidFill>
              </a:rPr>
              <a:t>SAS version + options + locale + encoding</a:t>
            </a:r>
          </a:p>
          <a:p>
            <a:pPr>
              <a:spcBef>
                <a:spcPts val="100"/>
              </a:spcBef>
              <a:spcAft>
                <a:spcPts val="300"/>
              </a:spcAft>
              <a:defRPr sz="950"/>
            </a:pPr>
            <a:r>
              <a:rPr b="1" sz="950">
                <a:solidFill>
                  <a:srgbClr val="F97316"/>
                </a:solidFill>
              </a:rPr>
              <a:t>▸ </a:t>
            </a:r>
            <a:r>
              <a:rPr sz="950">
                <a:solidFill>
                  <a:srgbClr val="0F172A"/>
                </a:solidFill>
              </a:rPr>
              <a:t>Spark version + Python version + DBR version</a:t>
            </a:r>
          </a:p>
          <a:p>
            <a:pPr>
              <a:spcBef>
                <a:spcPts val="100"/>
              </a:spcBef>
              <a:spcAft>
                <a:spcPts val="300"/>
              </a:spcAft>
              <a:defRPr sz="950"/>
            </a:pPr>
            <a:r>
              <a:rPr b="1" sz="950">
                <a:solidFill>
                  <a:srgbClr val="F97316"/>
                </a:solidFill>
              </a:rPr>
              <a:t>▸ </a:t>
            </a:r>
            <a:r>
              <a:rPr sz="950">
                <a:solidFill>
                  <a:srgbClr val="0F172A"/>
                </a:solidFill>
              </a:rPr>
              <a:t>Cluster policy + timezone + ANSI mode</a:t>
            </a:r>
          </a:p>
          <a:p>
            <a:pPr>
              <a:spcBef>
                <a:spcPts val="100"/>
              </a:spcBef>
              <a:spcAft>
                <a:spcPts val="300"/>
              </a:spcAft>
              <a:defRPr sz="950"/>
            </a:pPr>
            <a:r>
              <a:rPr b="1" sz="950">
                <a:solidFill>
                  <a:srgbClr val="F97316"/>
                </a:solidFill>
              </a:rPr>
              <a:t>▸ </a:t>
            </a:r>
            <a:r>
              <a:rPr sz="950">
                <a:solidFill>
                  <a:srgbClr val="0F172A"/>
                </a:solidFill>
              </a:rPr>
              <a:t>Library dependency hashes</a:t>
            </a:r>
          </a:p>
          <a:p>
            <a:pPr>
              <a:spcBef>
                <a:spcPts val="100"/>
              </a:spcBef>
              <a:spcAft>
                <a:spcPts val="300"/>
              </a:spcAft>
              <a:defRPr sz="950"/>
            </a:pPr>
            <a:r>
              <a:rPr b="1" sz="950">
                <a:solidFill>
                  <a:srgbClr val="F97316"/>
                </a:solidFill>
              </a:rPr>
              <a:t>▸ </a:t>
            </a:r>
            <a:r>
              <a:rPr sz="950">
                <a:solidFill>
                  <a:srgbClr val="0F172A"/>
                </a:solidFill>
              </a:rPr>
              <a:t>Configuration snapshot</a:t>
            </a:r>
          </a:p>
          <a:p>
            <a:pPr>
              <a:spcBef>
                <a:spcPts val="100"/>
              </a:spcBef>
              <a:spcAft>
                <a:spcPts val="300"/>
              </a:spcAft>
              <a:defRPr sz="950"/>
            </a:pPr>
            <a:r>
              <a:rPr b="1" sz="950">
                <a:solidFill>
                  <a:srgbClr val="F97316"/>
                </a:solidFill>
              </a:rPr>
              <a:t>▸ </a:t>
            </a:r>
            <a:r>
              <a:rPr sz="950">
                <a:solidFill>
                  <a:srgbClr val="0F172A"/>
                </a:solidFill>
              </a:rPr>
              <a:t>Execution date + wall-clock timestamp</a:t>
            </a:r>
          </a:p>
          <a:p>
            <a:pPr>
              <a:spcBef>
                <a:spcPts val="600"/>
              </a:spcBef>
            </a:pPr>
          </a:p>
          <a:p>
            <a:pPr>
              <a:spcBef>
                <a:spcPts val="100"/>
              </a:spcBef>
              <a:spcAft>
                <a:spcPts val="300"/>
              </a:spcAft>
              <a:defRPr sz="950"/>
            </a:pPr>
            <a:r>
              <a:rPr b="1" sz="950">
                <a:solidFill>
                  <a:srgbClr val="D97706"/>
                </a:solidFill>
              </a:rPr>
              <a:t>▸ </a:t>
            </a:r>
            <a:r>
              <a:rPr b="1" sz="950">
                <a:solidFill>
                  <a:srgbClr val="0F172A"/>
                </a:solidFill>
              </a:rPr>
              <a:t>WHY: </a:t>
            </a:r>
            <a:r>
              <a:rPr sz="950">
                <a:solidFill>
                  <a:srgbClr val="0F172A"/>
                </a:solidFill>
              </a:rPr>
              <a:t>Without this, a future rerun may produce a different answer and you won't know why. The fingerprint is part of the evidence certificate.</a:t>
            </a:r>
          </a:p>
        </p:txBody>
      </p:sp>
      <p:sp>
        <p:nvSpPr>
          <p:cNvPr id="10" name="Rounded Rectangle 9"/>
          <p:cNvSpPr/>
          <p:nvPr/>
        </p:nvSpPr>
        <p:spPr>
          <a:xfrm>
            <a:off x="731520" y="4709160"/>
            <a:ext cx="10698480" cy="64008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782312"/>
            <a:ext cx="10424160" cy="502920"/>
          </a:xfrm>
          <a:prstGeom prst="rect">
            <a:avLst/>
          </a:prstGeom>
          <a:noFill/>
        </p:spPr>
        <p:txBody>
          <a:bodyPr wrap="square" lIns="0" tIns="0" rIns="0" bIns="0">
            <a:spAutoFit/>
          </a:bodyPr>
          <a:lstStyle/>
          <a:p>
            <a:pPr>
              <a:defRPr sz="900" b="1">
                <a:solidFill>
                  <a:srgbClr val="D97706"/>
                </a:solidFill>
              </a:defRPr>
            </a:pPr>
            <a:r>
              <a:t>THE NON-OBVIOUS REQUIREMENT</a:t>
            </a:r>
          </a:p>
          <a:p>
            <a:pPr>
              <a:spcBef>
                <a:spcPts val="200"/>
              </a:spcBef>
              <a:defRPr sz="950">
                <a:solidFill>
                  <a:srgbClr val="0F172A"/>
                </a:solidFill>
              </a:defRPr>
            </a:pPr>
            <a:r>
              <a:t>The harness must say 'SAS and Spark were executed against input snapshot SNAP-001' — not 'they were probably reading the same files.' This is why snapshot identity is prioritized above fancy agent features.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6 · RECONCILIATION ENGINE DEEP DIVE</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Three Independent Proof Systems, Not a Simple Row Count Check</a:t>
            </a:r>
          </a:p>
          <a:p>
            <a:pPr>
              <a:spcBef>
                <a:spcPts val="300"/>
              </a:spcBef>
              <a:defRPr sz="1050">
                <a:solidFill>
                  <a:srgbClr val="64748B"/>
                </a:solidFill>
              </a:defRPr>
            </a:pPr>
            <a:r>
              <a:t>Schema equivalence classes, versioned tolerance policies, and three comparison modes (KEYED/ORDERED/MULTISET).</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8/18</a:t>
            </a:r>
          </a:p>
        </p:txBody>
      </p:sp>
      <p:sp>
        <p:nvSpPr>
          <p:cNvPr id="6" name="Rounded Rectangle 5"/>
          <p:cNvSpPr/>
          <p:nvPr/>
        </p:nvSpPr>
        <p:spPr>
          <a:xfrm>
            <a:off x="731520" y="1600200"/>
            <a:ext cx="1069848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37360"/>
            <a:ext cx="1645920" cy="384048"/>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MODE: KEYED</a:t>
            </a:r>
          </a:p>
        </p:txBody>
      </p:sp>
      <p:sp>
        <p:nvSpPr>
          <p:cNvPr id="8" name="TextBox 7"/>
          <p:cNvSpPr txBox="1"/>
          <p:nvPr/>
        </p:nvSpPr>
        <p:spPr>
          <a:xfrm>
            <a:off x="2743200" y="1709928"/>
            <a:ext cx="8503920" cy="1097280"/>
          </a:xfrm>
          <a:prstGeom prst="rect">
            <a:avLst/>
          </a:prstGeom>
          <a:noFill/>
        </p:spPr>
        <p:txBody>
          <a:bodyPr wrap="square" lIns="0" tIns="0" rIns="0" bIns="0">
            <a:spAutoFit/>
          </a:bodyPr>
          <a:lstStyle/>
          <a:p>
            <a:pPr>
              <a:defRPr sz="1000">
                <a:solidFill>
                  <a:srgbClr val="0F172A"/>
                </a:solidFill>
              </a:defRPr>
            </a:pPr>
            <a:r>
              <a:t>Primary key join (e.g., customer_id + txn_id). Compare matching rows. Detect missing/extra keys.</a:t>
            </a:r>
          </a:p>
          <a:p>
            <a:pPr>
              <a:spcBef>
                <a:spcPts val="400"/>
              </a:spcBef>
            </a:pPr>
            <a:r>
              <a:rPr b="1" sz="900">
                <a:solidFill>
                  <a:srgbClr val="4F46E5"/>
                </a:solidFill>
              </a:rPr>
              <a:t>When to use: </a:t>
            </a:r>
            <a:r>
              <a:rPr sz="900">
                <a:solidFill>
                  <a:srgbClr val="64748B"/>
                </a:solidFill>
              </a:rPr>
              <a:t>When output has a natural composite key. Most common mode.</a:t>
            </a:r>
          </a:p>
        </p:txBody>
      </p:sp>
      <p:sp>
        <p:nvSpPr>
          <p:cNvPr id="9" name="Rounded Rectangle 8"/>
          <p:cNvSpPr/>
          <p:nvPr/>
        </p:nvSpPr>
        <p:spPr>
          <a:xfrm>
            <a:off x="731520" y="3017520"/>
            <a:ext cx="1069848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3154680"/>
            <a:ext cx="164592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MODE: ORDERED</a:t>
            </a:r>
          </a:p>
        </p:txBody>
      </p:sp>
      <p:sp>
        <p:nvSpPr>
          <p:cNvPr id="11" name="TextBox 10"/>
          <p:cNvSpPr txBox="1"/>
          <p:nvPr/>
        </p:nvSpPr>
        <p:spPr>
          <a:xfrm>
            <a:off x="2743200" y="3127248"/>
            <a:ext cx="8503920" cy="1097280"/>
          </a:xfrm>
          <a:prstGeom prst="rect">
            <a:avLst/>
          </a:prstGeom>
          <a:noFill/>
        </p:spPr>
        <p:txBody>
          <a:bodyPr wrap="square" lIns="0" tIns="0" rIns="0" bIns="0">
            <a:spAutoFit/>
          </a:bodyPr>
          <a:lstStyle/>
          <a:p>
            <a:pPr>
              <a:defRPr sz="1000">
                <a:solidFill>
                  <a:srgbClr val="0F172A"/>
                </a:solidFill>
              </a:defRPr>
            </a:pPr>
            <a:r>
              <a:t>Positional row match: row 1 ↔ row 1, row 2 ↔ row 2. Order itself is part of the contract.</a:t>
            </a:r>
          </a:p>
          <a:p>
            <a:pPr>
              <a:spcBef>
                <a:spcPts val="400"/>
              </a:spcBef>
            </a:pPr>
            <a:r>
              <a:rPr b="1" sz="900">
                <a:solidFill>
                  <a:srgbClr val="2563EB"/>
                </a:solidFill>
              </a:rPr>
              <a:t>When to use: </a:t>
            </a:r>
            <a:r>
              <a:rPr sz="900">
                <a:solidFill>
                  <a:srgbClr val="64748B"/>
                </a:solidFill>
              </a:rPr>
              <a:t>When SAS output ordering (e.g., BY-group, PROC SORT) is semantically meaningful.</a:t>
            </a:r>
          </a:p>
        </p:txBody>
      </p:sp>
      <p:sp>
        <p:nvSpPr>
          <p:cNvPr id="12" name="Rounded Rectangle 11"/>
          <p:cNvSpPr/>
          <p:nvPr/>
        </p:nvSpPr>
        <p:spPr>
          <a:xfrm>
            <a:off x="731520" y="4434840"/>
            <a:ext cx="1069848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4572000"/>
            <a:ext cx="1645920" cy="384048"/>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MODE: MULTISET</a:t>
            </a:r>
          </a:p>
        </p:txBody>
      </p:sp>
      <p:sp>
        <p:nvSpPr>
          <p:cNvPr id="14" name="TextBox 13"/>
          <p:cNvSpPr txBox="1"/>
          <p:nvPr/>
        </p:nvSpPr>
        <p:spPr>
          <a:xfrm>
            <a:off x="2743200" y="4544568"/>
            <a:ext cx="8503920" cy="1097280"/>
          </a:xfrm>
          <a:prstGeom prst="rect">
            <a:avLst/>
          </a:prstGeom>
          <a:noFill/>
        </p:spPr>
        <p:txBody>
          <a:bodyPr wrap="square" lIns="0" tIns="0" rIns="0" bIns="0">
            <a:spAutoFit/>
          </a:bodyPr>
          <a:lstStyle/>
          <a:p>
            <a:pPr>
              <a:defRPr sz="1000">
                <a:solidFill>
                  <a:srgbClr val="0F172A"/>
                </a:solidFill>
              </a:defRPr>
            </a:pPr>
            <a:r>
              <a:t>Unordered bag match: row_fingerprint → occurrence_count. Avoids treating two duplicates as one.</a:t>
            </a:r>
          </a:p>
          <a:p>
            <a:pPr>
              <a:spcBef>
                <a:spcPts val="400"/>
              </a:spcBef>
            </a:pPr>
            <a:r>
              <a:rPr b="1" sz="900">
                <a:solidFill>
                  <a:srgbClr val="F97316"/>
                </a:solidFill>
              </a:rPr>
              <a:t>When to use: </a:t>
            </a:r>
            <a:r>
              <a:rPr sz="900">
                <a:solidFill>
                  <a:srgbClr val="64748B"/>
                </a:solidFill>
              </a:rPr>
              <a:t>When output is unordered but duplicates are significant (e.g., transaction logs).</a:t>
            </a:r>
          </a:p>
        </p:txBody>
      </p:sp>
      <p:sp>
        <p:nvSpPr>
          <p:cNvPr id="15" name="Rounded Rectangle 14"/>
          <p:cNvSpPr/>
          <p:nvPr/>
        </p:nvSpPr>
        <p:spPr>
          <a:xfrm>
            <a:off x="731520" y="5760720"/>
            <a:ext cx="10698480" cy="548640"/>
          </a:xfrm>
          <a:prstGeom prst="roundRect">
            <a:avLst/>
          </a:prstGeom>
          <a:solidFill>
            <a:srgbClr val="FFF1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833872"/>
            <a:ext cx="10424160" cy="411480"/>
          </a:xfrm>
          <a:prstGeom prst="rect">
            <a:avLst/>
          </a:prstGeom>
          <a:noFill/>
        </p:spPr>
        <p:txBody>
          <a:bodyPr wrap="square" lIns="0" tIns="0" rIns="0" bIns="0">
            <a:spAutoFit/>
          </a:bodyPr>
          <a:lstStyle/>
          <a:p>
            <a:pPr>
              <a:defRPr sz="900" b="1">
                <a:solidFill>
                  <a:srgbClr val="E11D48"/>
                </a:solidFill>
              </a:defRPr>
            </a:pPr>
            <a:r>
              <a:t>CANONICALIZATION BEFORE HASHING</a:t>
            </a:r>
          </a:p>
          <a:p>
            <a:pPr>
              <a:spcBef>
                <a:spcPts val="200"/>
              </a:spcBef>
              <a:defRPr sz="950">
                <a:solidFill>
                  <a:srgbClr val="0F172A"/>
                </a:solidFill>
              </a:defRPr>
            </a:pPr>
            <a:r>
              <a:t>Row hashing requires: canonical null repr · canonical decimal repr · canonical date repr · canonical timezone · canonical string encoding · canonical column ordering · canonical float serialization → then SHA-256. Never hash(str(row)).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7 · RECONCILIATION POLICY VERSIONING</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A Tolerance Change From 1e-6 to 1e-4 Can Flip FAIL to PASS</a:t>
            </a:r>
          </a:p>
          <a:p>
            <a:pPr>
              <a:spcBef>
                <a:spcPts val="300"/>
              </a:spcBef>
              <a:defRPr sz="1050">
                <a:solidFill>
                  <a:srgbClr val="64748B"/>
                </a:solidFill>
              </a:defRPr>
            </a:pPr>
            <a:r>
              <a:t>Every metric needs definition + algorithm + tolerance + policy_version as evidence. The policy is part of the proof.</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9/18</a:t>
            </a:r>
          </a:p>
        </p:txBody>
      </p:sp>
      <p:sp>
        <p:nvSpPr>
          <p:cNvPr id="6" name="Rounded Rectangle 5"/>
          <p:cNvSpPr/>
          <p:nvPr/>
        </p:nvSpPr>
        <p:spPr>
          <a:xfrm>
            <a:off x="731520" y="1600200"/>
            <a:ext cx="521208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2560320"/>
          </a:xfrm>
          <a:prstGeom prst="rect">
            <a:avLst/>
          </a:prstGeom>
          <a:noFill/>
        </p:spPr>
        <p:txBody>
          <a:bodyPr wrap="square" lIns="0" tIns="0" rIns="0" bIns="0">
            <a:spAutoFit/>
          </a:bodyPr>
          <a:lstStyle/>
          <a:p>
            <a:pPr>
              <a:spcAft>
                <a:spcPts val="600"/>
              </a:spcAft>
              <a:defRPr sz="1200" b="1">
                <a:solidFill>
                  <a:srgbClr val="2563EB"/>
                </a:solidFill>
              </a:defRPr>
            </a:pPr>
            <a:r>
              <a:t>EVERY AGGREGATE METRIC CARRIES</a:t>
            </a:r>
          </a:p>
          <a:p>
            <a:pPr>
              <a:spcAft>
                <a:spcPts val="200"/>
              </a:spcAft>
              <a:defRPr sz="1000"/>
            </a:pPr>
            <a:r>
              <a:rPr b="1">
                <a:solidFill>
                  <a:srgbClr val="2563EB"/>
                </a:solidFill>
                <a:latin typeface="Consolas"/>
              </a:rPr>
              <a:t>  definition: </a:t>
            </a:r>
            <a:r>
              <a:rPr>
                <a:solidFill>
                  <a:srgbClr val="0F172A"/>
                </a:solidFill>
                <a:latin typeface="Consolas"/>
              </a:rPr>
              <a:t>SAS-style percentile definition 5</a:t>
            </a:r>
          </a:p>
          <a:p>
            <a:pPr>
              <a:spcAft>
                <a:spcPts val="200"/>
              </a:spcAft>
              <a:defRPr sz="1000"/>
            </a:pPr>
            <a:r>
              <a:rPr b="1">
                <a:solidFill>
                  <a:srgbClr val="2563EB"/>
                </a:solidFill>
                <a:latin typeface="Consolas"/>
              </a:rPr>
              <a:t>  spark_algorithm: </a:t>
            </a:r>
            <a:r>
              <a:rPr>
                <a:solidFill>
                  <a:srgbClr val="0F172A"/>
                </a:solidFill>
                <a:latin typeface="Consolas"/>
              </a:rPr>
              <a:t>exact vs approxQuantile</a:t>
            </a:r>
          </a:p>
          <a:p>
            <a:pPr>
              <a:spcAft>
                <a:spcPts val="200"/>
              </a:spcAft>
              <a:defRPr sz="1000"/>
            </a:pPr>
            <a:r>
              <a:rPr b="1">
                <a:solidFill>
                  <a:srgbClr val="2563EB"/>
                </a:solidFill>
                <a:latin typeface="Consolas"/>
              </a:rPr>
              <a:t>  tolerance: </a:t>
            </a:r>
            <a:r>
              <a:rPr>
                <a:solidFill>
                  <a:srgbClr val="0F172A"/>
                </a:solidFill>
                <a:latin typeface="Consolas"/>
              </a:rPr>
              <a:t>±0.0001</a:t>
            </a:r>
          </a:p>
          <a:p>
            <a:pPr>
              <a:spcAft>
                <a:spcPts val="200"/>
              </a:spcAft>
              <a:defRPr sz="1000"/>
            </a:pPr>
            <a:r>
              <a:rPr b="1">
                <a:solidFill>
                  <a:srgbClr val="2563EB"/>
                </a:solidFill>
                <a:latin typeface="Consolas"/>
              </a:rPr>
              <a:t>  policy_version: </a:t>
            </a:r>
            <a:r>
              <a:rPr>
                <a:solidFill>
                  <a:srgbClr val="0F172A"/>
                </a:solidFill>
                <a:latin typeface="Consolas"/>
              </a:rPr>
              <a:t>strict_parity_v3</a:t>
            </a:r>
          </a:p>
          <a:p>
            <a:pPr>
              <a:spcAft>
                <a:spcPts val="200"/>
              </a:spcAft>
              <a:defRPr sz="1000"/>
            </a:pPr>
            <a:r>
              <a:rPr b="1">
                <a:solidFill>
                  <a:srgbClr val="2563EB"/>
                </a:solidFill>
                <a:latin typeface="Consolas"/>
              </a:rPr>
              <a:t>  result: </a:t>
            </a:r>
            <a:r>
              <a:rPr>
                <a:solidFill>
                  <a:srgbClr val="0F172A"/>
                </a:solidFill>
                <a:latin typeface="Consolas"/>
              </a:rPr>
              <a:t>PASS | FAIL | DRIFT</a:t>
            </a:r>
          </a:p>
          <a:p>
            <a:pPr>
              <a:spcBef>
                <a:spcPts val="600"/>
              </a:spcBef>
            </a:pPr>
          </a:p>
          <a:p>
            <a:pPr>
              <a:spcBef>
                <a:spcPts val="100"/>
              </a:spcBef>
              <a:spcAft>
                <a:spcPts val="300"/>
              </a:spcAft>
              <a:defRPr sz="950"/>
            </a:pPr>
            <a:r>
              <a:rPr b="1" sz="950">
                <a:solidFill>
                  <a:srgbClr val="E11D48"/>
                </a:solidFill>
              </a:rPr>
              <a:t>▸ </a:t>
            </a:r>
            <a:r>
              <a:rPr b="1" sz="950">
                <a:solidFill>
                  <a:srgbClr val="0F172A"/>
                </a:solidFill>
              </a:rPr>
              <a:t>DANGER: </a:t>
            </a:r>
            <a:r>
              <a:rPr sz="950">
                <a:solidFill>
                  <a:srgbClr val="0F172A"/>
                </a:solidFill>
              </a:rPr>
              <a:t>SAS exact quantile vs Spark approximate quantile cannot be silently compared and called parity.</a:t>
            </a:r>
          </a:p>
        </p:txBody>
      </p:sp>
      <p:sp>
        <p:nvSpPr>
          <p:cNvPr id="8" name="Rounded Rectangle 7"/>
          <p:cNvSpPr/>
          <p:nvPr/>
        </p:nvSpPr>
        <p:spPr>
          <a:xfrm>
            <a:off x="6245352" y="1600200"/>
            <a:ext cx="5212080"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2560320"/>
          </a:xfrm>
          <a:prstGeom prst="rect">
            <a:avLst/>
          </a:prstGeom>
          <a:noFill/>
        </p:spPr>
        <p:txBody>
          <a:bodyPr wrap="square" lIns="0" tIns="0" rIns="0" bIns="0">
            <a:spAutoFit/>
          </a:bodyPr>
          <a:lstStyle/>
          <a:p>
            <a:pPr>
              <a:spcAft>
                <a:spcPts val="600"/>
              </a:spcAft>
              <a:defRPr sz="1200" b="1">
                <a:solidFill>
                  <a:srgbClr val="F97316"/>
                </a:solidFill>
              </a:defRPr>
            </a:pPr>
            <a:r>
              <a:t>SCHEMA EQUIVALENCE CLASSES</a:t>
            </a:r>
          </a:p>
          <a:p>
            <a:pPr>
              <a:spcBef>
                <a:spcPts val="100"/>
              </a:spcBef>
              <a:spcAft>
                <a:spcPts val="300"/>
              </a:spcAft>
              <a:defRPr sz="950"/>
            </a:pPr>
            <a:r>
              <a:rPr b="1" sz="950">
                <a:solidFill>
                  <a:srgbClr val="059669"/>
                </a:solidFill>
              </a:rPr>
              <a:t>▸ </a:t>
            </a:r>
            <a:r>
              <a:rPr b="1" sz="950">
                <a:solidFill>
                  <a:srgbClr val="0F172A"/>
                </a:solidFill>
              </a:rPr>
              <a:t>EXACT: </a:t>
            </a:r>
            <a:r>
              <a:rPr sz="950">
                <a:solidFill>
                  <a:srgbClr val="0F172A"/>
                </a:solidFill>
              </a:rPr>
              <a:t>SAS char(10) → Spark StringType(). Structural identity.</a:t>
            </a:r>
          </a:p>
          <a:p>
            <a:pPr>
              <a:spcBef>
                <a:spcPts val="100"/>
              </a:spcBef>
              <a:spcAft>
                <a:spcPts val="300"/>
              </a:spcAft>
              <a:defRPr sz="950"/>
            </a:pPr>
            <a:r>
              <a:rPr b="1" sz="950">
                <a:solidFill>
                  <a:srgbClr val="D97706"/>
                </a:solidFill>
              </a:rPr>
              <a:t>▸ </a:t>
            </a:r>
            <a:r>
              <a:rPr b="1" sz="950">
                <a:solidFill>
                  <a:srgbClr val="0F172A"/>
                </a:solidFill>
              </a:rPr>
              <a:t>SEMANTICALLY_EQUIVALENT: </a:t>
            </a:r>
            <a:r>
              <a:rPr sz="950">
                <a:solidFill>
                  <a:srgbClr val="0F172A"/>
                </a:solidFill>
              </a:rPr>
              <a:t>SAS numeric → Spark DOUBLE. Comparable but not identical.</a:t>
            </a:r>
          </a:p>
          <a:p>
            <a:pPr>
              <a:spcBef>
                <a:spcPts val="100"/>
              </a:spcBef>
              <a:spcAft>
                <a:spcPts val="300"/>
              </a:spcAft>
              <a:defRPr sz="950"/>
            </a:pPr>
            <a:r>
              <a:rPr b="1" sz="950">
                <a:solidFill>
                  <a:srgbClr val="E11D48"/>
                </a:solidFill>
              </a:rPr>
              <a:t>▸ </a:t>
            </a:r>
            <a:r>
              <a:rPr b="1" sz="950">
                <a:solidFill>
                  <a:srgbClr val="0F172A"/>
                </a:solidFill>
              </a:rPr>
              <a:t>INCOMPATIBLE: </a:t>
            </a:r>
            <a:r>
              <a:rPr sz="950">
                <a:solidFill>
                  <a:srgbClr val="0F172A"/>
                </a:solidFill>
              </a:rPr>
              <a:t>SAS formatted date → Spark TimestampType without timezone. Rejected.</a:t>
            </a:r>
          </a:p>
          <a:p>
            <a:pPr>
              <a:spcBef>
                <a:spcPts val="600"/>
              </a:spcBef>
            </a:pPr>
          </a:p>
          <a:p>
            <a:pPr>
              <a:spcBef>
                <a:spcPts val="100"/>
              </a:spcBef>
              <a:spcAft>
                <a:spcPts val="300"/>
              </a:spcAft>
              <a:defRPr sz="950"/>
            </a:pPr>
            <a:r>
              <a:rPr b="1" sz="950">
                <a:solidFill>
                  <a:srgbClr val="4F46E5"/>
                </a:solidFill>
              </a:rPr>
              <a:t>▸ </a:t>
            </a:r>
            <a:r>
              <a:rPr b="1" sz="950">
                <a:solidFill>
                  <a:srgbClr val="0F172A"/>
                </a:solidFill>
              </a:rPr>
              <a:t>WHY THIS MATTERS: </a:t>
            </a:r>
            <a:r>
              <a:rPr sz="950">
                <a:solidFill>
                  <a:srgbClr val="0F172A"/>
                </a:solidFill>
              </a:rPr>
              <a:t>The policy determines equivalence class. Different policies produce different pass/fail verdicts for the same migration. Both must be versioned in the evidence.</a:t>
            </a:r>
          </a:p>
        </p:txBody>
      </p:sp>
      <p:sp>
        <p:nvSpPr>
          <p:cNvPr id="10" name="Rounded Rectangle 9"/>
          <p:cNvSpPr/>
          <p:nvPr/>
        </p:nvSpPr>
        <p:spPr>
          <a:xfrm>
            <a:off x="731520" y="4572000"/>
            <a:ext cx="10698480" cy="594360"/>
          </a:xfrm>
          <a:prstGeom prst="roundRect">
            <a:avLst/>
          </a:prstGeom>
          <a:solidFill>
            <a:srgbClr val="FFFBEB"/>
          </a:solidFill>
          <a:ln w="12700">
            <a:solidFill>
              <a:srgbClr val="FDE6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645152"/>
            <a:ext cx="10424160" cy="457200"/>
          </a:xfrm>
          <a:prstGeom prst="rect">
            <a:avLst/>
          </a:prstGeom>
          <a:noFill/>
        </p:spPr>
        <p:txBody>
          <a:bodyPr wrap="square" lIns="0" tIns="0" rIns="0" bIns="0">
            <a:spAutoFit/>
          </a:bodyPr>
          <a:lstStyle/>
          <a:p>
            <a:pPr>
              <a:defRPr sz="900" b="1">
                <a:solidFill>
                  <a:srgbClr val="D97706"/>
                </a:solidFill>
              </a:defRPr>
            </a:pPr>
            <a:r>
              <a:t>THE SUBTLE TRAP</a:t>
            </a:r>
          </a:p>
          <a:p>
            <a:pPr>
              <a:spcBef>
                <a:spcPts val="200"/>
              </a:spcBef>
              <a:defRPr sz="950">
                <a:solidFill>
                  <a:srgbClr val="0F172A"/>
                </a:solidFill>
              </a:defRPr>
            </a:pPr>
            <a:r>
              <a:t>Versioned policies also cover: null handling policy, aggregate definitions, key matching strategy, numeric tolerance thresholds, quantile algorithm selection. Change any one and the certificate must reference the new version.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8 · THE SEMANTIC COUNTEREXAMPLE ENGINE</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Synthesized Boundary Tests Instead of LLM Guessing — A Potential Moat</a:t>
            </a:r>
          </a:p>
          <a:p>
            <a:pPr>
              <a:spcBef>
                <a:spcPts val="300"/>
              </a:spcBef>
              <a:defRPr sz="1050">
                <a:solidFill>
                  <a:srgbClr val="64748B"/>
                </a:solidFill>
              </a:defRPr>
            </a:pPr>
            <a:r>
              <a:t>When reconciliation fails on a pattern, generate a tiny diagnostic dataset to isolate the exact semantic divergence.</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10/18</a:t>
            </a:r>
          </a:p>
        </p:txBody>
      </p:sp>
      <p:sp>
        <p:nvSpPr>
          <p:cNvPr id="6" name="Rounded Rectangle 5"/>
          <p:cNvSpPr/>
          <p:nvPr/>
        </p:nvSpPr>
        <p:spPr>
          <a:xfrm>
            <a:off x="731520" y="1600200"/>
            <a:ext cx="521208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4297680"/>
          </a:xfrm>
          <a:prstGeom prst="rect">
            <a:avLst/>
          </a:prstGeom>
          <a:noFill/>
        </p:spPr>
        <p:txBody>
          <a:bodyPr wrap="square" lIns="0" tIns="0" rIns="0" bIns="0">
            <a:spAutoFit/>
          </a:bodyPr>
          <a:lstStyle/>
          <a:p>
            <a:pPr>
              <a:spcAft>
                <a:spcPts val="600"/>
              </a:spcAft>
              <a:defRPr sz="1200" b="1">
                <a:solidFill>
                  <a:srgbClr val="2563EB"/>
                </a:solidFill>
              </a:defRPr>
            </a:pPr>
            <a:r>
              <a:t>EXAMPLE: RECONCILIATION FAILS ON age=65</a:t>
            </a:r>
          </a:p>
          <a:p>
            <a:pPr>
              <a:spcBef>
                <a:spcPts val="100"/>
              </a:spcBef>
              <a:spcAft>
                <a:spcPts val="100"/>
              </a:spcAft>
              <a:defRPr sz="900">
                <a:solidFill>
                  <a:srgbClr val="0F172A"/>
                </a:solidFill>
                <a:latin typeface="Consolas"/>
              </a:defRPr>
            </a:pPr>
            <a:r>
              <a:t>Reconciliation report:</a:t>
            </a:r>
          </a:p>
          <a:p>
            <a:pPr>
              <a:spcBef>
                <a:spcPts val="100"/>
              </a:spcBef>
              <a:spcAft>
                <a:spcPts val="100"/>
              </a:spcAft>
              <a:defRPr sz="900">
                <a:solidFill>
                  <a:srgbClr val="0F172A"/>
                </a:solidFill>
                <a:latin typeface="Consolas"/>
              </a:defRPr>
            </a:pPr>
            <a:r>
              <a:t>  Spark differs from SAS on records where age = 65</a:t>
            </a:r>
          </a:p>
          <a:p>
            <a:pPr>
              <a:spcBef>
                <a:spcPts val="100"/>
              </a:spcBef>
              <a:spcAft>
                <a:spcPts val="100"/>
              </a:spcAft>
              <a:defRPr sz="900">
                <a:solidFill>
                  <a:srgbClr val="0F172A"/>
                </a:solidFill>
                <a:latin typeface="Consolas"/>
              </a:defRPr>
            </a:pPr>
          </a:p>
          <a:p>
            <a:pPr>
              <a:spcBef>
                <a:spcPts val="100"/>
              </a:spcBef>
              <a:spcAft>
                <a:spcPts val="100"/>
              </a:spcAft>
              <a:defRPr sz="900">
                <a:solidFill>
                  <a:srgbClr val="0F172A"/>
                </a:solidFill>
                <a:latin typeface="Consolas"/>
              </a:defRPr>
            </a:pPr>
            <a:r>
              <a:t>INSTEAD OF asking the LLM to patch immediately:</a:t>
            </a:r>
          </a:p>
          <a:p>
            <a:pPr>
              <a:spcBef>
                <a:spcPts val="100"/>
              </a:spcBef>
              <a:spcAft>
                <a:spcPts val="100"/>
              </a:spcAft>
              <a:defRPr sz="900">
                <a:solidFill>
                  <a:srgbClr val="0F172A"/>
                </a:solidFill>
                <a:latin typeface="Consolas"/>
              </a:defRPr>
            </a:pPr>
          </a:p>
          <a:p>
            <a:pPr>
              <a:spcBef>
                <a:spcPts val="100"/>
              </a:spcBef>
              <a:spcAft>
                <a:spcPts val="100"/>
              </a:spcAft>
              <a:defRPr sz="900">
                <a:solidFill>
                  <a:srgbClr val="2563EB"/>
                </a:solidFill>
                <a:latin typeface="Consolas"/>
              </a:defRPr>
            </a:pPr>
            <a:r>
              <a:t>Generate diagnostic dataset:</a:t>
            </a:r>
          </a:p>
          <a:p>
            <a:pPr>
              <a:spcBef>
                <a:spcPts val="100"/>
              </a:spcBef>
              <a:spcAft>
                <a:spcPts val="100"/>
              </a:spcAft>
              <a:defRPr sz="900">
                <a:solidFill>
                  <a:srgbClr val="0F172A"/>
                </a:solidFill>
                <a:latin typeface="Consolas"/>
              </a:defRPr>
            </a:pPr>
            <a:r>
              <a:t>  age = 64</a:t>
            </a:r>
          </a:p>
          <a:p>
            <a:pPr>
              <a:spcBef>
                <a:spcPts val="100"/>
              </a:spcBef>
              <a:spcAft>
                <a:spcPts val="100"/>
              </a:spcAft>
              <a:defRPr sz="900">
                <a:solidFill>
                  <a:srgbClr val="0F172A"/>
                </a:solidFill>
                <a:latin typeface="Consolas"/>
              </a:defRPr>
            </a:pPr>
            <a:r>
              <a:t>  age = 65</a:t>
            </a:r>
          </a:p>
          <a:p>
            <a:pPr>
              <a:spcBef>
                <a:spcPts val="100"/>
              </a:spcBef>
              <a:spcAft>
                <a:spcPts val="100"/>
              </a:spcAft>
              <a:defRPr sz="900">
                <a:solidFill>
                  <a:srgbClr val="0F172A"/>
                </a:solidFill>
                <a:latin typeface="Consolas"/>
              </a:defRPr>
            </a:pPr>
            <a:r>
              <a:t>  age = 66</a:t>
            </a:r>
          </a:p>
          <a:p>
            <a:pPr>
              <a:spcBef>
                <a:spcPts val="100"/>
              </a:spcBef>
              <a:spcAft>
                <a:spcPts val="100"/>
              </a:spcAft>
              <a:defRPr sz="900">
                <a:solidFill>
                  <a:srgbClr val="0F172A"/>
                </a:solidFill>
                <a:latin typeface="Consolas"/>
              </a:defRPr>
            </a:pPr>
            <a:r>
              <a:t>  age = NULL</a:t>
            </a:r>
          </a:p>
          <a:p>
            <a:pPr>
              <a:spcBef>
                <a:spcPts val="100"/>
              </a:spcBef>
              <a:spcAft>
                <a:spcPts val="100"/>
              </a:spcAft>
              <a:defRPr sz="900">
                <a:solidFill>
                  <a:srgbClr val="0F172A"/>
                </a:solidFill>
                <a:latin typeface="Consolas"/>
              </a:defRPr>
            </a:pPr>
          </a:p>
          <a:p>
            <a:pPr>
              <a:spcBef>
                <a:spcPts val="100"/>
              </a:spcBef>
              <a:spcAft>
                <a:spcPts val="100"/>
              </a:spcAft>
              <a:defRPr sz="900">
                <a:solidFill>
                  <a:srgbClr val="2563EB"/>
                </a:solidFill>
                <a:latin typeface="Consolas"/>
              </a:defRPr>
            </a:pPr>
            <a:r>
              <a:t>Run BOTH SAS and Spark on this micro-dataset</a:t>
            </a:r>
          </a:p>
          <a:p>
            <a:pPr>
              <a:spcBef>
                <a:spcPts val="100"/>
              </a:spcBef>
              <a:spcAft>
                <a:spcPts val="100"/>
              </a:spcAft>
              <a:defRPr sz="900">
                <a:solidFill>
                  <a:srgbClr val="0F172A"/>
                </a:solidFill>
                <a:latin typeface="Consolas"/>
              </a:defRPr>
            </a:pPr>
          </a:p>
          <a:p>
            <a:pPr>
              <a:spcBef>
                <a:spcPts val="100"/>
              </a:spcBef>
              <a:spcAft>
                <a:spcPts val="100"/>
              </a:spcAft>
              <a:defRPr sz="900">
                <a:solidFill>
                  <a:srgbClr val="059669"/>
                </a:solidFill>
                <a:latin typeface="Consolas"/>
              </a:defRPr>
            </a:pPr>
            <a:r>
              <a:t>Result: distinguishes &gt; vs &gt;= without</a:t>
            </a:r>
          </a:p>
          <a:p>
            <a:pPr>
              <a:spcBef>
                <a:spcPts val="100"/>
              </a:spcBef>
              <a:spcAft>
                <a:spcPts val="100"/>
              </a:spcAft>
              <a:defRPr sz="900">
                <a:solidFill>
                  <a:srgbClr val="059669"/>
                </a:solidFill>
                <a:latin typeface="Consolas"/>
              </a:defRPr>
            </a:pPr>
            <a:r>
              <a:t>executing the entire production dataset</a:t>
            </a:r>
          </a:p>
        </p:txBody>
      </p:sp>
      <p:sp>
        <p:nvSpPr>
          <p:cNvPr id="8" name="Rounded Rectangle 7"/>
          <p:cNvSpPr/>
          <p:nvPr/>
        </p:nvSpPr>
        <p:spPr>
          <a:xfrm>
            <a:off x="6245352" y="1600200"/>
            <a:ext cx="5212080" cy="4526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4297680"/>
          </a:xfrm>
          <a:prstGeom prst="rect">
            <a:avLst/>
          </a:prstGeom>
          <a:noFill/>
        </p:spPr>
        <p:txBody>
          <a:bodyPr wrap="square" lIns="0" tIns="0" rIns="0" bIns="0">
            <a:spAutoFit/>
          </a:bodyPr>
          <a:lstStyle/>
          <a:p>
            <a:pPr>
              <a:spcAft>
                <a:spcPts val="600"/>
              </a:spcAft>
              <a:defRPr sz="1200" b="1">
                <a:solidFill>
                  <a:srgbClr val="F97316"/>
                </a:solidFill>
              </a:defRPr>
            </a:pPr>
            <a:r>
              <a:t>BY-GROUP COUNTEREXAMPLE GENERATION</a:t>
            </a:r>
          </a:p>
          <a:p>
            <a:pPr>
              <a:spcBef>
                <a:spcPts val="100"/>
              </a:spcBef>
              <a:spcAft>
                <a:spcPts val="300"/>
              </a:spcAft>
              <a:defRPr sz="1000"/>
            </a:pPr>
            <a:r>
              <a:rPr b="1" sz="1000">
                <a:solidFill>
                  <a:srgbClr val="F97316"/>
                </a:solidFill>
              </a:rPr>
              <a:t>▸ </a:t>
            </a:r>
            <a:r>
              <a:rPr sz="1000">
                <a:solidFill>
                  <a:srgbClr val="0F172A"/>
                </a:solidFill>
              </a:rPr>
              <a:t>Single-row group  (boundary)</a:t>
            </a:r>
          </a:p>
          <a:p>
            <a:pPr>
              <a:spcBef>
                <a:spcPts val="100"/>
              </a:spcBef>
              <a:spcAft>
                <a:spcPts val="300"/>
              </a:spcAft>
              <a:defRPr sz="1000"/>
            </a:pPr>
            <a:r>
              <a:rPr b="1" sz="1000">
                <a:solidFill>
                  <a:srgbClr val="F97316"/>
                </a:solidFill>
              </a:rPr>
              <a:t>▸ </a:t>
            </a:r>
            <a:r>
              <a:rPr sz="1000">
                <a:solidFill>
                  <a:srgbClr val="0F172A"/>
                </a:solidFill>
              </a:rPr>
              <a:t>Two-row group  (normal)</a:t>
            </a:r>
          </a:p>
          <a:p>
            <a:pPr>
              <a:spcBef>
                <a:spcPts val="100"/>
              </a:spcBef>
              <a:spcAft>
                <a:spcPts val="300"/>
              </a:spcAft>
              <a:defRPr sz="1000"/>
            </a:pPr>
            <a:r>
              <a:rPr b="1" sz="1000">
                <a:solidFill>
                  <a:srgbClr val="F97316"/>
                </a:solidFill>
              </a:rPr>
              <a:t>▸ </a:t>
            </a:r>
            <a:r>
              <a:rPr sz="1000">
                <a:solidFill>
                  <a:srgbClr val="0F172A"/>
                </a:solidFill>
              </a:rPr>
              <a:t>Group boundary transition  (FIRST./LAST.)</a:t>
            </a:r>
          </a:p>
          <a:p>
            <a:pPr>
              <a:spcBef>
                <a:spcPts val="100"/>
              </a:spcBef>
              <a:spcAft>
                <a:spcPts val="300"/>
              </a:spcAft>
              <a:defRPr sz="1000"/>
            </a:pPr>
            <a:r>
              <a:rPr b="1" sz="1000">
                <a:solidFill>
                  <a:srgbClr val="F97316"/>
                </a:solidFill>
              </a:rPr>
              <a:t>▸ </a:t>
            </a:r>
            <a:r>
              <a:rPr sz="1000">
                <a:solidFill>
                  <a:srgbClr val="0F172A"/>
                </a:solidFill>
              </a:rPr>
              <a:t>Duplicate ordering within group</a:t>
            </a:r>
          </a:p>
          <a:p>
            <a:pPr>
              <a:spcBef>
                <a:spcPts val="100"/>
              </a:spcBef>
              <a:spcAft>
                <a:spcPts val="300"/>
              </a:spcAft>
              <a:defRPr sz="1000"/>
            </a:pPr>
            <a:r>
              <a:rPr b="1" sz="1000">
                <a:solidFill>
                  <a:srgbClr val="F97316"/>
                </a:solidFill>
              </a:rPr>
              <a:t>▸ </a:t>
            </a:r>
            <a:r>
              <a:rPr sz="1000">
                <a:solidFill>
                  <a:srgbClr val="0F172A"/>
                </a:solidFill>
              </a:rPr>
              <a:t>Missing key value  (null BY)</a:t>
            </a:r>
          </a:p>
          <a:p>
            <a:pPr>
              <a:spcBef>
                <a:spcPts val="100"/>
              </a:spcBef>
              <a:spcAft>
                <a:spcPts val="300"/>
              </a:spcAft>
              <a:defRPr sz="1000"/>
            </a:pPr>
            <a:r>
              <a:rPr b="1" sz="1000">
                <a:solidFill>
                  <a:srgbClr val="F97316"/>
                </a:solidFill>
              </a:rPr>
              <a:t>▸ </a:t>
            </a:r>
            <a:r>
              <a:rPr sz="1000">
                <a:solidFill>
                  <a:srgbClr val="0F172A"/>
                </a:solidFill>
              </a:rPr>
              <a:t>Maximum group size  (accumulator overflow)</a:t>
            </a:r>
          </a:p>
          <a:p>
            <a:pPr>
              <a:spcBef>
                <a:spcPts val="800"/>
              </a:spcBef>
            </a:pPr>
          </a:p>
          <a:p>
            <a:pPr>
              <a:spcAft>
                <a:spcPts val="600"/>
              </a:spcAft>
              <a:defRPr sz="1100" b="1">
                <a:solidFill>
                  <a:srgbClr val="0D9488"/>
                </a:solidFill>
              </a:defRPr>
            </a:pPr>
            <a:r>
              <a:t>METAMORPHIC TESTS</a:t>
            </a:r>
          </a:p>
          <a:p>
            <a:pPr>
              <a:spcBef>
                <a:spcPts val="100"/>
              </a:spcBef>
              <a:spcAft>
                <a:spcPts val="300"/>
              </a:spcAft>
              <a:defRPr sz="950"/>
            </a:pPr>
            <a:r>
              <a:rPr b="1" sz="950">
                <a:solidFill>
                  <a:srgbClr val="0D9488"/>
                </a:solidFill>
              </a:rPr>
              <a:t>▸ </a:t>
            </a:r>
            <a:r>
              <a:rPr b="1" sz="950">
                <a:solidFill>
                  <a:srgbClr val="0F172A"/>
                </a:solidFill>
              </a:rPr>
              <a:t>Shuffle invariance: </a:t>
            </a:r>
            <a:r>
              <a:rPr sz="950">
                <a:solidFill>
                  <a:srgbClr val="0F172A"/>
                </a:solidFill>
              </a:rPr>
              <a:t>Shuffle input rows → unordered aggregation must not change</a:t>
            </a:r>
          </a:p>
          <a:p>
            <a:pPr>
              <a:spcBef>
                <a:spcPts val="100"/>
              </a:spcBef>
              <a:spcAft>
                <a:spcPts val="300"/>
              </a:spcAft>
              <a:defRPr sz="950"/>
            </a:pPr>
            <a:r>
              <a:rPr b="1" sz="950">
                <a:solidFill>
                  <a:srgbClr val="0D9488"/>
                </a:solidFill>
              </a:rPr>
              <a:t>▸ </a:t>
            </a:r>
            <a:r>
              <a:rPr b="1" sz="950">
                <a:solidFill>
                  <a:srgbClr val="0F172A"/>
                </a:solidFill>
              </a:rPr>
              <a:t>Duplication linearity: </a:t>
            </a:r>
            <a:r>
              <a:rPr sz="950">
                <a:solidFill>
                  <a:srgbClr val="0F172A"/>
                </a:solidFill>
              </a:rPr>
              <a:t>Duplicate independent group → counts change predictably</a:t>
            </a:r>
          </a:p>
          <a:p>
            <a:pPr>
              <a:spcBef>
                <a:spcPts val="100"/>
              </a:spcBef>
              <a:spcAft>
                <a:spcPts val="300"/>
              </a:spcAft>
              <a:defRPr sz="950"/>
            </a:pPr>
            <a:r>
              <a:rPr b="1" sz="950">
                <a:solidFill>
                  <a:srgbClr val="0D9488"/>
                </a:solidFill>
              </a:rPr>
              <a:t>▸ </a:t>
            </a:r>
            <a:r>
              <a:rPr b="1" sz="950">
                <a:solidFill>
                  <a:srgbClr val="0F172A"/>
                </a:solidFill>
              </a:rPr>
              <a:t>Null injection: </a:t>
            </a:r>
            <a:r>
              <a:rPr sz="950">
                <a:solidFill>
                  <a:srgbClr val="0F172A"/>
                </a:solidFill>
              </a:rPr>
              <a:t>Add a NULL → SUM must change according to SAS null semantics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9 · REPAIR ≠ RUN-EDIT-RUN</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An 11-Step Scientific Process, Not Blind Agentic Editing</a:t>
            </a:r>
          </a:p>
          <a:p>
            <a:pPr>
              <a:spcBef>
                <a:spcPts val="300"/>
              </a:spcBef>
              <a:defRPr sz="1050">
                <a:solidFill>
                  <a:srgbClr val="64748B"/>
                </a:solidFill>
              </a:defRPr>
            </a:pPr>
            <a:r>
              <a:t>Normal coding agents do run → observe → edit → run. Our system does localization → classification → hypothesis → experiment → repair → regression.</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11/18</a:t>
            </a:r>
          </a:p>
        </p:txBody>
      </p:sp>
      <p:sp>
        <p:nvSpPr>
          <p:cNvPr id="6" name="Rounded Rectangle 5"/>
          <p:cNvSpPr/>
          <p:nvPr/>
        </p:nvSpPr>
        <p:spPr>
          <a:xfrm>
            <a:off x="731520" y="1600200"/>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55064"/>
            <a:ext cx="10332720" cy="292608"/>
          </a:xfrm>
          <a:prstGeom prst="rect">
            <a:avLst/>
          </a:prstGeom>
          <a:noFill/>
        </p:spPr>
        <p:txBody>
          <a:bodyPr wrap="square" lIns="0" tIns="0" rIns="0" bIns="0">
            <a:spAutoFit/>
          </a:bodyPr>
          <a:lstStyle/>
          <a:p>
            <a:pPr>
              <a:defRPr sz="950"/>
            </a:pPr>
            <a:r>
              <a:rPr b="1">
                <a:solidFill>
                  <a:srgbClr val="4F46E5"/>
                </a:solidFill>
                <a:latin typeface="Consolas"/>
              </a:rPr>
              <a:t>1. Reconcile</a:t>
            </a:r>
            <a:r>
              <a:rPr>
                <a:solidFill>
                  <a:srgbClr val="0F172A"/>
                </a:solidFill>
              </a:rPr>
              <a:t>  —  Execute 3-level parity check</a:t>
            </a:r>
          </a:p>
        </p:txBody>
      </p:sp>
      <p:sp>
        <p:nvSpPr>
          <p:cNvPr id="8" name="Rounded Rectangle 7"/>
          <p:cNvSpPr/>
          <p:nvPr/>
        </p:nvSpPr>
        <p:spPr>
          <a:xfrm>
            <a:off x="731520" y="2020824"/>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75688"/>
            <a:ext cx="10332720" cy="292608"/>
          </a:xfrm>
          <a:prstGeom prst="rect">
            <a:avLst/>
          </a:prstGeom>
          <a:noFill/>
        </p:spPr>
        <p:txBody>
          <a:bodyPr wrap="square" lIns="0" tIns="0" rIns="0" bIns="0">
            <a:spAutoFit/>
          </a:bodyPr>
          <a:lstStyle/>
          <a:p>
            <a:pPr>
              <a:defRPr sz="950"/>
            </a:pPr>
            <a:r>
              <a:rPr b="1">
                <a:solidFill>
                  <a:srgbClr val="4F46E5"/>
                </a:solidFill>
                <a:latin typeface="Consolas"/>
              </a:rPr>
              <a:t>2. Localize</a:t>
            </a:r>
            <a:r>
              <a:rPr>
                <a:solidFill>
                  <a:srgbClr val="0F172A"/>
                </a:solidFill>
              </a:rPr>
              <a:t>  —  Map failure to specific columns, keys, IR nodes</a:t>
            </a:r>
          </a:p>
        </p:txBody>
      </p:sp>
      <p:sp>
        <p:nvSpPr>
          <p:cNvPr id="10" name="Rounded Rectangle 9"/>
          <p:cNvSpPr/>
          <p:nvPr/>
        </p:nvSpPr>
        <p:spPr>
          <a:xfrm>
            <a:off x="731520" y="2441448"/>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96312"/>
            <a:ext cx="10332720" cy="292608"/>
          </a:xfrm>
          <a:prstGeom prst="rect">
            <a:avLst/>
          </a:prstGeom>
          <a:noFill/>
        </p:spPr>
        <p:txBody>
          <a:bodyPr wrap="square" lIns="0" tIns="0" rIns="0" bIns="0">
            <a:spAutoFit/>
          </a:bodyPr>
          <a:lstStyle/>
          <a:p>
            <a:pPr>
              <a:defRPr sz="950"/>
            </a:pPr>
            <a:r>
              <a:rPr b="1">
                <a:solidFill>
                  <a:srgbClr val="2563EB"/>
                </a:solidFill>
                <a:latin typeface="Consolas"/>
              </a:rPr>
              <a:t>3. Classify</a:t>
            </a:r>
            <a:r>
              <a:rPr>
                <a:solidFill>
                  <a:srgbClr val="0F172A"/>
                </a:solidFill>
              </a:rPr>
              <a:t>  —  Categorize: schema / join / filtering / null / type coercion / date / precision</a:t>
            </a:r>
          </a:p>
        </p:txBody>
      </p:sp>
      <p:sp>
        <p:nvSpPr>
          <p:cNvPr id="12" name="Rounded Rectangle 11"/>
          <p:cNvSpPr/>
          <p:nvPr/>
        </p:nvSpPr>
        <p:spPr>
          <a:xfrm>
            <a:off x="731520" y="2862072"/>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916936"/>
            <a:ext cx="10332720" cy="292608"/>
          </a:xfrm>
          <a:prstGeom prst="rect">
            <a:avLst/>
          </a:prstGeom>
          <a:noFill/>
        </p:spPr>
        <p:txBody>
          <a:bodyPr wrap="square" lIns="0" tIns="0" rIns="0" bIns="0">
            <a:spAutoFit/>
          </a:bodyPr>
          <a:lstStyle/>
          <a:p>
            <a:pPr>
              <a:defRPr sz="950"/>
            </a:pPr>
            <a:r>
              <a:rPr b="1">
                <a:solidFill>
                  <a:srgbClr val="2563EB"/>
                </a:solidFill>
                <a:latin typeface="Consolas"/>
              </a:rPr>
              <a:t>4. Correlate</a:t>
            </a:r>
            <a:r>
              <a:rPr>
                <a:solidFill>
                  <a:srgbClr val="0F172A"/>
                </a:solidFill>
              </a:rPr>
              <a:t>  —  Cross-reference SAS IR + PySpark AST + execution evidence + input characteristics</a:t>
            </a:r>
          </a:p>
        </p:txBody>
      </p:sp>
      <p:sp>
        <p:nvSpPr>
          <p:cNvPr id="14" name="Rounded Rectangle 13"/>
          <p:cNvSpPr/>
          <p:nvPr/>
        </p:nvSpPr>
        <p:spPr>
          <a:xfrm>
            <a:off x="731520" y="3282696"/>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337560"/>
            <a:ext cx="10332720" cy="292608"/>
          </a:xfrm>
          <a:prstGeom prst="rect">
            <a:avLst/>
          </a:prstGeom>
          <a:noFill/>
        </p:spPr>
        <p:txBody>
          <a:bodyPr wrap="square" lIns="0" tIns="0" rIns="0" bIns="0">
            <a:spAutoFit/>
          </a:bodyPr>
          <a:lstStyle/>
          <a:p>
            <a:pPr>
              <a:defRPr sz="950"/>
            </a:pPr>
            <a:r>
              <a:rPr b="1">
                <a:solidFill>
                  <a:srgbClr val="F97316"/>
                </a:solidFill>
                <a:latin typeface="Consolas"/>
              </a:rPr>
              <a:t>5. Hypothesize</a:t>
            </a:r>
            <a:r>
              <a:rPr>
                <a:solidFill>
                  <a:srgbClr val="0F172A"/>
                </a:solidFill>
              </a:rPr>
              <a:t>  —  Generate ranked diagnostic hypotheses (e.g., missing partition boundary)</a:t>
            </a:r>
          </a:p>
        </p:txBody>
      </p:sp>
      <p:sp>
        <p:nvSpPr>
          <p:cNvPr id="16" name="Rounded Rectangle 15"/>
          <p:cNvSpPr/>
          <p:nvPr/>
        </p:nvSpPr>
        <p:spPr>
          <a:xfrm>
            <a:off x="731520" y="3703320"/>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758184"/>
            <a:ext cx="10332720" cy="292608"/>
          </a:xfrm>
          <a:prstGeom prst="rect">
            <a:avLst/>
          </a:prstGeom>
          <a:noFill/>
        </p:spPr>
        <p:txBody>
          <a:bodyPr wrap="square" lIns="0" tIns="0" rIns="0" bIns="0">
            <a:spAutoFit/>
          </a:bodyPr>
          <a:lstStyle/>
          <a:p>
            <a:pPr>
              <a:defRPr sz="950"/>
            </a:pPr>
            <a:r>
              <a:rPr b="1">
                <a:solidFill>
                  <a:srgbClr val="F97316"/>
                </a:solidFill>
                <a:latin typeface="Consolas"/>
              </a:rPr>
              <a:t>6. Experiment</a:t>
            </a:r>
            <a:r>
              <a:rPr>
                <a:solidFill>
                  <a:srgbClr val="0F172A"/>
                </a:solidFill>
              </a:rPr>
              <a:t>  —  Run counterexample fixture to confirm/reject hypothesis</a:t>
            </a:r>
          </a:p>
        </p:txBody>
      </p:sp>
      <p:sp>
        <p:nvSpPr>
          <p:cNvPr id="18" name="Rounded Rectangle 17"/>
          <p:cNvSpPr/>
          <p:nvPr/>
        </p:nvSpPr>
        <p:spPr>
          <a:xfrm>
            <a:off x="731520" y="4123944"/>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178808"/>
            <a:ext cx="10332720" cy="292608"/>
          </a:xfrm>
          <a:prstGeom prst="rect">
            <a:avLst/>
          </a:prstGeom>
          <a:noFill/>
        </p:spPr>
        <p:txBody>
          <a:bodyPr wrap="square" lIns="0" tIns="0" rIns="0" bIns="0">
            <a:spAutoFit/>
          </a:bodyPr>
          <a:lstStyle/>
          <a:p>
            <a:pPr>
              <a:defRPr sz="950"/>
            </a:pPr>
            <a:r>
              <a:rPr b="1">
                <a:solidFill>
                  <a:srgbClr val="059669"/>
                </a:solidFill>
                <a:latin typeface="Consolas"/>
              </a:rPr>
              <a:t>7. Patch</a:t>
            </a:r>
            <a:r>
              <a:rPr>
                <a:solidFill>
                  <a:srgbClr val="0F172A"/>
                </a:solidFill>
              </a:rPr>
              <a:t>  —  Surgical unified-diff patch (not full-file rewrite)</a:t>
            </a:r>
          </a:p>
        </p:txBody>
      </p:sp>
      <p:sp>
        <p:nvSpPr>
          <p:cNvPr id="20" name="Rounded Rectangle 19"/>
          <p:cNvSpPr/>
          <p:nvPr/>
        </p:nvSpPr>
        <p:spPr>
          <a:xfrm>
            <a:off x="731520" y="4544568"/>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599432"/>
            <a:ext cx="10332720" cy="292608"/>
          </a:xfrm>
          <a:prstGeom prst="rect">
            <a:avLst/>
          </a:prstGeom>
          <a:noFill/>
        </p:spPr>
        <p:txBody>
          <a:bodyPr wrap="square" lIns="0" tIns="0" rIns="0" bIns="0">
            <a:spAutoFit/>
          </a:bodyPr>
          <a:lstStyle/>
          <a:p>
            <a:pPr>
              <a:defRPr sz="950"/>
            </a:pPr>
            <a:r>
              <a:rPr b="1">
                <a:solidFill>
                  <a:srgbClr val="059669"/>
                </a:solidFill>
                <a:latin typeface="Consolas"/>
              </a:rPr>
              <a:t>8. Static verify</a:t>
            </a:r>
            <a:r>
              <a:rPr>
                <a:solidFill>
                  <a:srgbClr val="0F172A"/>
                </a:solidFill>
              </a:rPr>
              <a:t>  —  PySpark compilation, type check, import validation</a:t>
            </a:r>
          </a:p>
        </p:txBody>
      </p:sp>
      <p:sp>
        <p:nvSpPr>
          <p:cNvPr id="22" name="Rounded Rectangle 21"/>
          <p:cNvSpPr/>
          <p:nvPr/>
        </p:nvSpPr>
        <p:spPr>
          <a:xfrm>
            <a:off x="731520" y="4965192"/>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020056"/>
            <a:ext cx="10332720" cy="292608"/>
          </a:xfrm>
          <a:prstGeom prst="rect">
            <a:avLst/>
          </a:prstGeom>
          <a:noFill/>
        </p:spPr>
        <p:txBody>
          <a:bodyPr wrap="square" lIns="0" tIns="0" rIns="0" bIns="0">
            <a:spAutoFit/>
          </a:bodyPr>
          <a:lstStyle/>
          <a:p>
            <a:pPr>
              <a:defRPr sz="950"/>
            </a:pPr>
            <a:r>
              <a:rPr b="1">
                <a:solidFill>
                  <a:srgbClr val="0D9488"/>
                </a:solidFill>
                <a:latin typeface="Consolas"/>
              </a:rPr>
              <a:t>9. Targeted exec</a:t>
            </a:r>
            <a:r>
              <a:rPr>
                <a:solidFill>
                  <a:srgbClr val="0F172A"/>
                </a:solidFill>
              </a:rPr>
              <a:t>  —  Run only the affected fixture on patched code</a:t>
            </a:r>
          </a:p>
        </p:txBody>
      </p:sp>
      <p:sp>
        <p:nvSpPr>
          <p:cNvPr id="24" name="Rounded Rectangle 23"/>
          <p:cNvSpPr/>
          <p:nvPr/>
        </p:nvSpPr>
        <p:spPr>
          <a:xfrm>
            <a:off x="731520" y="5385816"/>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440680"/>
            <a:ext cx="10332720" cy="292608"/>
          </a:xfrm>
          <a:prstGeom prst="rect">
            <a:avLst/>
          </a:prstGeom>
          <a:noFill/>
        </p:spPr>
        <p:txBody>
          <a:bodyPr wrap="square" lIns="0" tIns="0" rIns="0" bIns="0">
            <a:spAutoFit/>
          </a:bodyPr>
          <a:lstStyle/>
          <a:p>
            <a:pPr>
              <a:defRPr sz="950"/>
            </a:pPr>
            <a:r>
              <a:rPr b="1">
                <a:solidFill>
                  <a:srgbClr val="0D9488"/>
                </a:solidFill>
                <a:latin typeface="Consolas"/>
              </a:rPr>
              <a:t>10. Full exec</a:t>
            </a:r>
            <a:r>
              <a:rPr>
                <a:solidFill>
                  <a:srgbClr val="0F172A"/>
                </a:solidFill>
              </a:rPr>
              <a:t>  —  Full dataset execution + reconciliation</a:t>
            </a:r>
          </a:p>
        </p:txBody>
      </p:sp>
      <p:sp>
        <p:nvSpPr>
          <p:cNvPr id="26" name="Rounded Rectangle 25"/>
          <p:cNvSpPr/>
          <p:nvPr/>
        </p:nvSpPr>
        <p:spPr>
          <a:xfrm>
            <a:off x="731520" y="5806440"/>
            <a:ext cx="10698480" cy="38404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861304"/>
            <a:ext cx="10332720" cy="292608"/>
          </a:xfrm>
          <a:prstGeom prst="rect">
            <a:avLst/>
          </a:prstGeom>
          <a:noFill/>
        </p:spPr>
        <p:txBody>
          <a:bodyPr wrap="square" lIns="0" tIns="0" rIns="0" bIns="0">
            <a:spAutoFit/>
          </a:bodyPr>
          <a:lstStyle/>
          <a:p>
            <a:pPr>
              <a:defRPr sz="950"/>
            </a:pPr>
            <a:r>
              <a:rPr b="1">
                <a:solidFill>
                  <a:srgbClr val="E11D48"/>
                </a:solidFill>
                <a:latin typeface="Consolas"/>
              </a:rPr>
              <a:t>11. Regression</a:t>
            </a:r>
            <a:r>
              <a:rPr>
                <a:solidFill>
                  <a:srgbClr val="0F172A"/>
                </a:solidFill>
              </a:rPr>
              <a:t>  —  Verify no previously-passing tests now fail (monotonic guard)</a:t>
            </a:r>
          </a:p>
        </p:txBody>
      </p:sp>
      <p:sp>
        <p:nvSpPr>
          <p:cNvPr id="28" name="Rounded Rectangle 27"/>
          <p:cNvSpPr/>
          <p:nvPr/>
        </p:nvSpPr>
        <p:spPr>
          <a:xfrm>
            <a:off x="731520" y="6263640"/>
            <a:ext cx="10698480" cy="5029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8680" y="6336792"/>
            <a:ext cx="10424160" cy="365760"/>
          </a:xfrm>
          <a:prstGeom prst="rect">
            <a:avLst/>
          </a:prstGeom>
          <a:noFill/>
        </p:spPr>
        <p:txBody>
          <a:bodyPr wrap="square" lIns="0" tIns="0" rIns="0" bIns="0">
            <a:spAutoFit/>
          </a:bodyPr>
          <a:lstStyle/>
          <a:p>
            <a:pPr>
              <a:defRPr sz="900" b="1">
                <a:solidFill>
                  <a:srgbClr val="4F46E5"/>
                </a:solidFill>
              </a:defRPr>
            </a:pPr>
          </a:p>
          <a:p>
            <a:pPr>
              <a:spcBef>
                <a:spcPts val="200"/>
              </a:spcBef>
              <a:defRPr sz="950">
                <a:solidFill>
                  <a:srgbClr val="4F46E5"/>
                </a:solidFill>
              </a:defRPr>
            </a:pPr>
            <a:r>
              <a:t>THE LLM RECEIVES: semantic diagnosis + affected source spans + affected candidate spans + evidence + previous repairs + failed hypotheses + applicable skills + allowed patch surface. NOT raw SAS + PySpark + diff + 'fix this.'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10 · MONOTONIC GUARDS &amp; OSCILLATION DETECTION</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Deny-Only Guards That Cannot Be Reversed + Repair Cycle Detection</a:t>
            </a:r>
          </a:p>
          <a:p>
            <a:pPr>
              <a:spcBef>
                <a:spcPts val="300"/>
              </a:spcBef>
              <a:defRPr sz="1050">
                <a:solidFill>
                  <a:srgbClr val="64748B"/>
                </a:solidFill>
              </a:defRPr>
            </a:pPr>
            <a:r>
              <a:t>Borrowed from DeepSeek: a guard can make execution less permissive, but no extension can undo the denial.</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12/18</a:t>
            </a:r>
          </a:p>
        </p:txBody>
      </p:sp>
      <p:sp>
        <p:nvSpPr>
          <p:cNvPr id="6" name="Rounded Rectangle 5"/>
          <p:cNvSpPr/>
          <p:nvPr/>
        </p:nvSpPr>
        <p:spPr>
          <a:xfrm>
            <a:off x="731520" y="1600200"/>
            <a:ext cx="5212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2377440"/>
          </a:xfrm>
          <a:prstGeom prst="rect">
            <a:avLst/>
          </a:prstGeom>
          <a:noFill/>
        </p:spPr>
        <p:txBody>
          <a:bodyPr wrap="square" lIns="0" tIns="0" rIns="0" bIns="0">
            <a:spAutoFit/>
          </a:bodyPr>
          <a:lstStyle/>
          <a:p>
            <a:pPr>
              <a:spcAft>
                <a:spcPts val="600"/>
              </a:spcAft>
              <a:defRPr sz="1200" b="1">
                <a:solidFill>
                  <a:srgbClr val="E11D48"/>
                </a:solidFill>
              </a:defRPr>
            </a:pPr>
            <a:r>
              <a:t>MONOTONIC MIGRATION GUARDS</a:t>
            </a:r>
          </a:p>
          <a:p>
            <a:pPr>
              <a:spcBef>
                <a:spcPts val="100"/>
              </a:spcBef>
              <a:spcAft>
                <a:spcPts val="100"/>
              </a:spcAft>
              <a:defRPr sz="900">
                <a:solidFill>
                  <a:srgbClr val="E11D48"/>
                </a:solidFill>
                <a:latin typeface="Consolas"/>
              </a:defRPr>
            </a:pPr>
            <a:r>
              <a:t>  ✕  duplicate_patch_hash</a:t>
            </a:r>
          </a:p>
          <a:p>
            <a:pPr>
              <a:spcBef>
                <a:spcPts val="100"/>
              </a:spcBef>
              <a:spcAft>
                <a:spcPts val="100"/>
              </a:spcAft>
              <a:defRPr sz="900">
                <a:solidFill>
                  <a:srgbClr val="E11D48"/>
                </a:solidFill>
                <a:latin typeface="Consolas"/>
              </a:defRPr>
            </a:pPr>
            <a:r>
              <a:t>  ✕  duplicate_semantic_patch</a:t>
            </a:r>
          </a:p>
          <a:p>
            <a:pPr>
              <a:spcBef>
                <a:spcPts val="100"/>
              </a:spcBef>
              <a:spcAft>
                <a:spcPts val="100"/>
              </a:spcAft>
              <a:defRPr sz="900">
                <a:solidFill>
                  <a:srgbClr val="E11D48"/>
                </a:solidFill>
                <a:latin typeface="Consolas"/>
              </a:defRPr>
            </a:pPr>
            <a:r>
              <a:t>  ✕  forbidden_import</a:t>
            </a:r>
          </a:p>
          <a:p>
            <a:pPr>
              <a:spcBef>
                <a:spcPts val="100"/>
              </a:spcBef>
              <a:spcAft>
                <a:spcPts val="100"/>
              </a:spcAft>
              <a:defRPr sz="900">
                <a:solidFill>
                  <a:srgbClr val="E11D48"/>
                </a:solidFill>
                <a:latin typeface="Consolas"/>
              </a:defRPr>
            </a:pPr>
            <a:r>
              <a:t>  ✕  forbidden_network_access</a:t>
            </a:r>
          </a:p>
          <a:p>
            <a:pPr>
              <a:spcBef>
                <a:spcPts val="100"/>
              </a:spcBef>
              <a:spcAft>
                <a:spcPts val="100"/>
              </a:spcAft>
              <a:defRPr sz="900">
                <a:solidFill>
                  <a:srgbClr val="E11D48"/>
                </a:solidFill>
                <a:latin typeface="Consolas"/>
              </a:defRPr>
            </a:pPr>
            <a:r>
              <a:t>  ✕  production_write_without_approval</a:t>
            </a:r>
          </a:p>
          <a:p>
            <a:pPr>
              <a:spcBef>
                <a:spcPts val="100"/>
              </a:spcBef>
              <a:spcAft>
                <a:spcPts val="100"/>
              </a:spcAft>
              <a:defRPr sz="900">
                <a:solidFill>
                  <a:srgbClr val="E11D48"/>
                </a:solidFill>
                <a:latin typeface="Consolas"/>
              </a:defRPr>
            </a:pPr>
            <a:r>
              <a:t>  ✕  execution_budget_exceeded</a:t>
            </a:r>
          </a:p>
          <a:p>
            <a:pPr>
              <a:spcBef>
                <a:spcPts val="100"/>
              </a:spcBef>
              <a:spcAft>
                <a:spcPts val="100"/>
              </a:spcAft>
              <a:defRPr sz="900">
                <a:solidFill>
                  <a:srgbClr val="E11D48"/>
                </a:solidFill>
                <a:latin typeface="Consolas"/>
              </a:defRPr>
            </a:pPr>
            <a:r>
              <a:t>  ✕  repair_iteration_exceeded</a:t>
            </a:r>
          </a:p>
          <a:p>
            <a:pPr>
              <a:spcBef>
                <a:spcPts val="100"/>
              </a:spcBef>
              <a:spcAft>
                <a:spcPts val="100"/>
              </a:spcAft>
              <a:defRPr sz="900">
                <a:solidFill>
                  <a:srgbClr val="E11D48"/>
                </a:solidFill>
                <a:latin typeface="Consolas"/>
              </a:defRPr>
            </a:pPr>
            <a:r>
              <a:t>  ✕  artifact_lineage_violation</a:t>
            </a:r>
          </a:p>
          <a:p>
            <a:pPr>
              <a:spcBef>
                <a:spcPts val="100"/>
              </a:spcBef>
              <a:spcAft>
                <a:spcPts val="100"/>
              </a:spcAft>
              <a:defRPr sz="900">
                <a:solidFill>
                  <a:srgbClr val="E11D48"/>
                </a:solidFill>
                <a:latin typeface="Consolas"/>
              </a:defRPr>
            </a:pPr>
            <a:r>
              <a:t>  ✕  security_scan_failed</a:t>
            </a:r>
          </a:p>
        </p:txBody>
      </p:sp>
      <p:sp>
        <p:nvSpPr>
          <p:cNvPr id="8" name="Rounded Rectangle 7"/>
          <p:cNvSpPr/>
          <p:nvPr/>
        </p:nvSpPr>
        <p:spPr>
          <a:xfrm>
            <a:off x="6245352" y="1600200"/>
            <a:ext cx="5212080" cy="25603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2377440"/>
          </a:xfrm>
          <a:prstGeom prst="rect">
            <a:avLst/>
          </a:prstGeom>
          <a:noFill/>
        </p:spPr>
        <p:txBody>
          <a:bodyPr wrap="square" lIns="0" tIns="0" rIns="0" bIns="0">
            <a:spAutoFit/>
          </a:bodyPr>
          <a:lstStyle/>
          <a:p>
            <a:pPr>
              <a:spcAft>
                <a:spcPts val="600"/>
              </a:spcAft>
              <a:defRPr sz="1200" b="1">
                <a:solidFill>
                  <a:srgbClr val="D97706"/>
                </a:solidFill>
              </a:defRPr>
            </a:pPr>
            <a:r>
              <a:t>OSCILLATION DETECTION</a:t>
            </a:r>
          </a:p>
          <a:p>
            <a:pPr>
              <a:spcBef>
                <a:spcPts val="100"/>
              </a:spcBef>
              <a:spcAft>
                <a:spcPts val="100"/>
              </a:spcAft>
              <a:defRPr sz="900">
                <a:solidFill>
                  <a:srgbClr val="0F172A"/>
                </a:solidFill>
                <a:latin typeface="Consolas"/>
              </a:defRPr>
            </a:pPr>
            <a:r>
              <a:t>attempt 1:  &gt;  →  &gt;=</a:t>
            </a:r>
          </a:p>
          <a:p>
            <a:pPr>
              <a:spcBef>
                <a:spcPts val="100"/>
              </a:spcBef>
              <a:spcAft>
                <a:spcPts val="100"/>
              </a:spcAft>
              <a:defRPr sz="900">
                <a:solidFill>
                  <a:srgbClr val="0F172A"/>
                </a:solidFill>
                <a:latin typeface="Consolas"/>
              </a:defRPr>
            </a:pPr>
            <a:r>
              <a:t>attempt 2:  &gt;= →  &gt;</a:t>
            </a:r>
          </a:p>
          <a:p>
            <a:pPr>
              <a:spcBef>
                <a:spcPts val="100"/>
              </a:spcBef>
              <a:spcAft>
                <a:spcPts val="100"/>
              </a:spcAft>
              <a:defRPr sz="900">
                <a:solidFill>
                  <a:srgbClr val="0F172A"/>
                </a:solidFill>
                <a:latin typeface="Consolas"/>
              </a:defRPr>
            </a:pPr>
            <a:r>
              <a:t>attempt 3:  &gt;  →  &gt;=   ← CYCLE DETECTED</a:t>
            </a:r>
          </a:p>
          <a:p>
            <a:pPr>
              <a:spcBef>
                <a:spcPts val="100"/>
              </a:spcBef>
              <a:spcAft>
                <a:spcPts val="100"/>
              </a:spcAft>
              <a:defRPr sz="900">
                <a:solidFill>
                  <a:srgbClr val="0F172A"/>
                </a:solidFill>
                <a:latin typeface="Consolas"/>
              </a:defRPr>
            </a:pPr>
          </a:p>
          <a:p>
            <a:pPr>
              <a:spcBef>
                <a:spcPts val="100"/>
              </a:spcBef>
              <a:spcAft>
                <a:spcPts val="300"/>
              </a:spcAft>
              <a:defRPr sz="950"/>
            </a:pPr>
            <a:r>
              <a:rPr b="1" sz="950">
                <a:solidFill>
                  <a:srgbClr val="E11D48"/>
                </a:solidFill>
              </a:rPr>
              <a:t>▸ </a:t>
            </a:r>
            <a:r>
              <a:rPr b="1" sz="950">
                <a:solidFill>
                  <a:srgbClr val="0F172A"/>
                </a:solidFill>
              </a:rPr>
              <a:t>same patch hash: </a:t>
            </a:r>
            <a:r>
              <a:rPr sz="950">
                <a:solidFill>
                  <a:srgbClr val="0F172A"/>
                </a:solidFill>
              </a:rPr>
              <a:t>Rejected immediately</a:t>
            </a:r>
          </a:p>
          <a:p>
            <a:pPr>
              <a:spcBef>
                <a:spcPts val="100"/>
              </a:spcBef>
              <a:spcAft>
                <a:spcPts val="300"/>
              </a:spcAft>
              <a:defRPr sz="950"/>
            </a:pPr>
            <a:r>
              <a:rPr b="1" sz="950">
                <a:solidFill>
                  <a:srgbClr val="E11D48"/>
                </a:solidFill>
              </a:rPr>
              <a:t>▸ </a:t>
            </a:r>
            <a:r>
              <a:rPr b="1" sz="950">
                <a:solidFill>
                  <a:srgbClr val="0F172A"/>
                </a:solidFill>
              </a:rPr>
              <a:t>same semantic patch: </a:t>
            </a:r>
            <a:r>
              <a:rPr sz="950">
                <a:solidFill>
                  <a:srgbClr val="0F172A"/>
                </a:solidFill>
              </a:rPr>
              <a:t>Different syntax, same effect → detected via IR</a:t>
            </a:r>
          </a:p>
          <a:p>
            <a:pPr>
              <a:spcBef>
                <a:spcPts val="100"/>
              </a:spcBef>
              <a:spcAft>
                <a:spcPts val="300"/>
              </a:spcAft>
              <a:defRPr sz="950"/>
            </a:pPr>
            <a:r>
              <a:rPr b="1" sz="950">
                <a:solidFill>
                  <a:srgbClr val="E11D48"/>
                </a:solidFill>
              </a:rPr>
              <a:t>▸ </a:t>
            </a:r>
            <a:r>
              <a:rPr b="1" sz="950">
                <a:solidFill>
                  <a:srgbClr val="0F172A"/>
                </a:solidFill>
              </a:rPr>
              <a:t>same reconciliation signature: </a:t>
            </a:r>
            <a:r>
              <a:rPr sz="950">
                <a:solidFill>
                  <a:srgbClr val="0F172A"/>
                </a:solidFill>
              </a:rPr>
              <a:t>Output pattern repeats → escalate</a:t>
            </a:r>
          </a:p>
        </p:txBody>
      </p:sp>
      <p:sp>
        <p:nvSpPr>
          <p:cNvPr id="10" name="Rounded Rectangle 9"/>
          <p:cNvSpPr/>
          <p:nvPr/>
        </p:nvSpPr>
        <p:spPr>
          <a:xfrm>
            <a:off x="731520" y="4343400"/>
            <a:ext cx="10698480" cy="640080"/>
          </a:xfrm>
          <a:prstGeom prst="roundRect">
            <a:avLst/>
          </a:prstGeom>
          <a:solidFill>
            <a:srgbClr val="FFF1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416552"/>
            <a:ext cx="10424160" cy="502920"/>
          </a:xfrm>
          <a:prstGeom prst="rect">
            <a:avLst/>
          </a:prstGeom>
          <a:noFill/>
        </p:spPr>
        <p:txBody>
          <a:bodyPr wrap="square" lIns="0" tIns="0" rIns="0" bIns="0">
            <a:spAutoFit/>
          </a:bodyPr>
          <a:lstStyle/>
          <a:p>
            <a:pPr>
              <a:defRPr sz="900" b="1">
                <a:solidFill>
                  <a:srgbClr val="E11D48"/>
                </a:solidFill>
              </a:defRPr>
            </a:pPr>
            <a:r>
              <a:t>THE REPAIR STATE INVARIANT</a:t>
            </a:r>
          </a:p>
          <a:p>
            <a:pPr>
              <a:spcBef>
                <a:spcPts val="200"/>
              </a:spcBef>
              <a:defRPr sz="950">
                <a:solidFill>
                  <a:srgbClr val="0F172A"/>
                </a:solidFill>
              </a:defRPr>
            </a:pPr>
            <a:r>
              <a:t>Once a session enters REPAIR_LIMIT_REACHED, the model cannot simply decide "let's continue." The state remains restrictive until an explicit human-triggered transition occurs. The LLM cannot manipulate the state machine.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11 · SKILLS AS MIGRATION KNOWLEDGE BASE</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Not Prompts — Structured Knowledge Artifacts With Progressive Disclosure</a:t>
            </a:r>
          </a:p>
          <a:p>
            <a:pPr>
              <a:spcBef>
                <a:spcPts val="300"/>
              </a:spcBef>
              <a:defRPr sz="1050">
                <a:solidFill>
                  <a:srgbClr val="64748B"/>
                </a:solidFill>
              </a:defRPr>
            </a:pPr>
            <a:r>
              <a:t>Each skill contains rules, examples, failure signatures, repair recipes, and diagnostic fixtures.</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13/18</a:t>
            </a:r>
          </a:p>
        </p:txBody>
      </p:sp>
      <p:sp>
        <p:nvSpPr>
          <p:cNvPr id="6" name="Rounded Rectangle 5"/>
          <p:cNvSpPr/>
          <p:nvPr/>
        </p:nvSpPr>
        <p:spPr>
          <a:xfrm>
            <a:off x="731520" y="1600200"/>
            <a:ext cx="52120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4846320" cy="3017520"/>
          </a:xfrm>
          <a:prstGeom prst="rect">
            <a:avLst/>
          </a:prstGeom>
          <a:noFill/>
        </p:spPr>
        <p:txBody>
          <a:bodyPr wrap="square" lIns="0" tIns="0" rIns="0" bIns="0">
            <a:spAutoFit/>
          </a:bodyPr>
          <a:lstStyle/>
          <a:p>
            <a:pPr>
              <a:spcAft>
                <a:spcPts val="600"/>
              </a:spcAft>
              <a:defRPr sz="1200" b="1">
                <a:solidFill>
                  <a:srgbClr val="2563EB"/>
                </a:solidFill>
              </a:defRPr>
            </a:pPr>
            <a:r>
              <a:t>SKILL ARTIFACT STRUCTURE</a:t>
            </a:r>
          </a:p>
          <a:p>
            <a:pPr>
              <a:spcBef>
                <a:spcPts val="100"/>
              </a:spcBef>
              <a:spcAft>
                <a:spcPts val="300"/>
              </a:spcAft>
              <a:defRPr sz="900"/>
            </a:pPr>
            <a:r>
              <a:rPr b="1" sz="900">
                <a:solidFill>
                  <a:srgbClr val="2563EB"/>
                </a:solidFill>
              </a:rPr>
              <a:t>▸ </a:t>
            </a:r>
            <a:r>
              <a:rPr sz="900">
                <a:solidFill>
                  <a:srgbClr val="0F172A"/>
                </a:solidFill>
              </a:rPr>
              <a:t>semantic_rules — formal SAS behavior rules</a:t>
            </a:r>
          </a:p>
          <a:p>
            <a:pPr>
              <a:spcBef>
                <a:spcPts val="100"/>
              </a:spcBef>
              <a:spcAft>
                <a:spcPts val="300"/>
              </a:spcAft>
              <a:defRPr sz="900"/>
            </a:pPr>
            <a:r>
              <a:rPr b="1" sz="900">
                <a:solidFill>
                  <a:srgbClr val="2563EB"/>
                </a:solidFill>
              </a:rPr>
              <a:t>▸ </a:t>
            </a:r>
            <a:r>
              <a:rPr sz="900">
                <a:solidFill>
                  <a:srgbClr val="0F172A"/>
                </a:solidFill>
              </a:rPr>
              <a:t>few_shot_examples — known correct translations</a:t>
            </a:r>
          </a:p>
          <a:p>
            <a:pPr>
              <a:spcBef>
                <a:spcPts val="100"/>
              </a:spcBef>
              <a:spcAft>
                <a:spcPts val="300"/>
              </a:spcAft>
              <a:defRPr sz="900"/>
            </a:pPr>
            <a:r>
              <a:rPr b="1" sz="900">
                <a:solidFill>
                  <a:srgbClr val="2563EB"/>
                </a:solidFill>
              </a:rPr>
              <a:t>▸ </a:t>
            </a:r>
            <a:r>
              <a:rPr sz="900">
                <a:solidFill>
                  <a:srgbClr val="0F172A"/>
                </a:solidFill>
              </a:rPr>
              <a:t>known_failure_signatures — patterns that indicate this issue</a:t>
            </a:r>
          </a:p>
          <a:p>
            <a:pPr>
              <a:spcBef>
                <a:spcPts val="100"/>
              </a:spcBef>
              <a:spcAft>
                <a:spcPts val="300"/>
              </a:spcAft>
              <a:defRPr sz="900"/>
            </a:pPr>
            <a:r>
              <a:rPr b="1" sz="900">
                <a:solidFill>
                  <a:srgbClr val="2563EB"/>
                </a:solidFill>
              </a:rPr>
              <a:t>▸ </a:t>
            </a:r>
            <a:r>
              <a:rPr sz="900">
                <a:solidFill>
                  <a:srgbClr val="0F172A"/>
                </a:solidFill>
              </a:rPr>
              <a:t>translation_patterns — deterministic templates</a:t>
            </a:r>
          </a:p>
          <a:p>
            <a:pPr>
              <a:spcBef>
                <a:spcPts val="100"/>
              </a:spcBef>
              <a:spcAft>
                <a:spcPts val="300"/>
              </a:spcAft>
              <a:defRPr sz="900"/>
            </a:pPr>
            <a:r>
              <a:rPr b="1" sz="900">
                <a:solidFill>
                  <a:srgbClr val="2563EB"/>
                </a:solidFill>
              </a:rPr>
              <a:t>▸ </a:t>
            </a:r>
            <a:r>
              <a:rPr sz="900">
                <a:solidFill>
                  <a:srgbClr val="0F172A"/>
                </a:solidFill>
              </a:rPr>
              <a:t>anti_patterns — things that look right but are wrong</a:t>
            </a:r>
          </a:p>
          <a:p>
            <a:pPr>
              <a:spcBef>
                <a:spcPts val="100"/>
              </a:spcBef>
              <a:spcAft>
                <a:spcPts val="300"/>
              </a:spcAft>
              <a:defRPr sz="900"/>
            </a:pPr>
            <a:r>
              <a:rPr b="1" sz="900">
                <a:solidFill>
                  <a:srgbClr val="2563EB"/>
                </a:solidFill>
              </a:rPr>
              <a:t>▸ </a:t>
            </a:r>
            <a:r>
              <a:rPr sz="900">
                <a:solidFill>
                  <a:srgbClr val="0F172A"/>
                </a:solidFill>
              </a:rPr>
              <a:t>diagnostic_fixtures — micro-datasets for this construct</a:t>
            </a:r>
          </a:p>
          <a:p>
            <a:pPr>
              <a:spcBef>
                <a:spcPts val="100"/>
              </a:spcBef>
              <a:spcAft>
                <a:spcPts val="300"/>
              </a:spcAft>
              <a:defRPr sz="900"/>
            </a:pPr>
            <a:r>
              <a:rPr b="1" sz="900">
                <a:solidFill>
                  <a:srgbClr val="2563EB"/>
                </a:solidFill>
              </a:rPr>
              <a:t>▸ </a:t>
            </a:r>
            <a:r>
              <a:rPr sz="900">
                <a:solidFill>
                  <a:srgbClr val="0F172A"/>
                </a:solidFill>
              </a:rPr>
              <a:t>repair_recipes — proven patch strategies</a:t>
            </a:r>
          </a:p>
          <a:p>
            <a:pPr>
              <a:spcBef>
                <a:spcPts val="100"/>
              </a:spcBef>
              <a:spcAft>
                <a:spcPts val="300"/>
              </a:spcAft>
              <a:defRPr sz="900"/>
            </a:pPr>
            <a:r>
              <a:rPr b="1" sz="900">
                <a:solidFill>
                  <a:srgbClr val="2563EB"/>
                </a:solidFill>
              </a:rPr>
              <a:t>▸ </a:t>
            </a:r>
            <a:r>
              <a:rPr sz="900">
                <a:solidFill>
                  <a:srgbClr val="0F172A"/>
                </a:solidFill>
              </a:rPr>
              <a:t>reconciliation_expectations — what parity looks like for this construct</a:t>
            </a:r>
          </a:p>
        </p:txBody>
      </p:sp>
      <p:sp>
        <p:nvSpPr>
          <p:cNvPr id="8" name="Rounded Rectangle 7"/>
          <p:cNvSpPr/>
          <p:nvPr/>
        </p:nvSpPr>
        <p:spPr>
          <a:xfrm>
            <a:off x="6245352" y="1600200"/>
            <a:ext cx="52120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28232" y="1719072"/>
            <a:ext cx="4846320" cy="3017520"/>
          </a:xfrm>
          <a:prstGeom prst="rect">
            <a:avLst/>
          </a:prstGeom>
          <a:noFill/>
        </p:spPr>
        <p:txBody>
          <a:bodyPr wrap="square" lIns="0" tIns="0" rIns="0" bIns="0">
            <a:spAutoFit/>
          </a:bodyPr>
          <a:lstStyle/>
          <a:p>
            <a:pPr>
              <a:spcAft>
                <a:spcPts val="600"/>
              </a:spcAft>
              <a:defRPr sz="1200" b="1">
                <a:solidFill>
                  <a:srgbClr val="F97316"/>
                </a:solidFill>
              </a:defRPr>
            </a:pPr>
            <a:r>
              <a:t>PROGRESSIVE DISCLOSURE FLOW</a:t>
            </a:r>
          </a:p>
          <a:p>
            <a:pPr>
              <a:spcBef>
                <a:spcPts val="100"/>
              </a:spcBef>
              <a:spcAft>
                <a:spcPts val="100"/>
              </a:spcAft>
              <a:defRPr sz="900">
                <a:solidFill>
                  <a:srgbClr val="0F172A"/>
                </a:solidFill>
                <a:latin typeface="Consolas"/>
              </a:defRPr>
            </a:pPr>
            <a:r>
              <a:t>Difference Analyzer output:</a:t>
            </a:r>
          </a:p>
          <a:p>
            <a:pPr>
              <a:spcBef>
                <a:spcPts val="100"/>
              </a:spcBef>
              <a:spcAft>
                <a:spcPts val="100"/>
              </a:spcAft>
              <a:defRPr sz="900">
                <a:solidFill>
                  <a:srgbClr val="0F172A"/>
                </a:solidFill>
                <a:latin typeface="Consolas"/>
              </a:defRPr>
            </a:pPr>
            <a:r>
              <a:t>  likely_semantic_family: "sas.by_group"</a:t>
            </a:r>
          </a:p>
          <a:p>
            <a:pPr>
              <a:spcBef>
                <a:spcPts val="100"/>
              </a:spcBef>
              <a:spcAft>
                <a:spcPts val="100"/>
              </a:spcAft>
              <a:defRPr sz="900">
                <a:solidFill>
                  <a:srgbClr val="0F172A"/>
                </a:solidFill>
                <a:latin typeface="Consolas"/>
              </a:defRPr>
            </a:pPr>
          </a:p>
          <a:p>
            <a:pPr>
              <a:spcBef>
                <a:spcPts val="100"/>
              </a:spcBef>
              <a:spcAft>
                <a:spcPts val="100"/>
              </a:spcAft>
              <a:defRPr sz="900">
                <a:solidFill>
                  <a:srgbClr val="F97316"/>
                </a:solidFill>
                <a:latin typeface="Consolas"/>
              </a:defRPr>
            </a:pPr>
            <a:r>
              <a:t>Next model call receives ONLY:</a:t>
            </a:r>
          </a:p>
          <a:p>
            <a:pPr>
              <a:spcBef>
                <a:spcPts val="100"/>
              </a:spcBef>
              <a:spcAft>
                <a:spcPts val="100"/>
              </a:spcAft>
              <a:defRPr sz="900">
                <a:solidFill>
                  <a:srgbClr val="0F172A"/>
                </a:solidFill>
                <a:latin typeface="Consolas"/>
              </a:defRPr>
            </a:pPr>
            <a:r>
              <a:t>  skill: sas.by_group</a:t>
            </a:r>
          </a:p>
          <a:p>
            <a:pPr>
              <a:spcBef>
                <a:spcPts val="100"/>
              </a:spcBef>
              <a:spcAft>
                <a:spcPts val="100"/>
              </a:spcAft>
              <a:defRPr sz="900">
                <a:solidFill>
                  <a:srgbClr val="0F172A"/>
                </a:solidFill>
                <a:latin typeface="Consolas"/>
              </a:defRPr>
            </a:pPr>
            <a:r>
              <a:t>  (not the entire skill catalog)</a:t>
            </a:r>
          </a:p>
          <a:p>
            <a:pPr>
              <a:spcBef>
                <a:spcPts val="100"/>
              </a:spcBef>
              <a:spcAft>
                <a:spcPts val="100"/>
              </a:spcAft>
              <a:defRPr sz="900">
                <a:solidFill>
                  <a:srgbClr val="0F172A"/>
                </a:solidFill>
                <a:latin typeface="Consolas"/>
              </a:defRPr>
            </a:pPr>
          </a:p>
          <a:p>
            <a:pPr>
              <a:spcAft>
                <a:spcPts val="600"/>
              </a:spcAft>
              <a:defRPr sz="1000" b="1">
                <a:solidFill>
                  <a:srgbClr val="0D9488"/>
                </a:solidFill>
              </a:defRPr>
            </a:pPr>
            <a:r>
              <a:t>SKILL CATALOG (LOADED ON DEMAND)</a:t>
            </a:r>
          </a:p>
          <a:p>
            <a:pPr>
              <a:spcBef>
                <a:spcPts val="100"/>
              </a:spcBef>
              <a:spcAft>
                <a:spcPts val="100"/>
              </a:spcAft>
              <a:defRPr sz="900">
                <a:solidFill>
                  <a:srgbClr val="0D9488"/>
                </a:solidFill>
                <a:latin typeface="Consolas"/>
              </a:defRPr>
            </a:pPr>
            <a:r>
              <a:t>  sas.by_group</a:t>
            </a:r>
          </a:p>
          <a:p>
            <a:pPr>
              <a:spcBef>
                <a:spcPts val="100"/>
              </a:spcBef>
              <a:spcAft>
                <a:spcPts val="100"/>
              </a:spcAft>
              <a:defRPr sz="900">
                <a:solidFill>
                  <a:srgbClr val="0D9488"/>
                </a:solidFill>
                <a:latin typeface="Consolas"/>
              </a:defRPr>
            </a:pPr>
            <a:r>
              <a:t>  sas.retain</a:t>
            </a:r>
          </a:p>
          <a:p>
            <a:pPr>
              <a:spcBef>
                <a:spcPts val="100"/>
              </a:spcBef>
              <a:spcAft>
                <a:spcPts val="100"/>
              </a:spcAft>
              <a:defRPr sz="900">
                <a:solidFill>
                  <a:srgbClr val="0D9488"/>
                </a:solidFill>
                <a:latin typeface="Consolas"/>
              </a:defRPr>
            </a:pPr>
            <a:r>
              <a:t>  sas.lag</a:t>
            </a:r>
          </a:p>
          <a:p>
            <a:pPr>
              <a:spcBef>
                <a:spcPts val="100"/>
              </a:spcBef>
              <a:spcAft>
                <a:spcPts val="100"/>
              </a:spcAft>
              <a:defRPr sz="900">
                <a:solidFill>
                  <a:srgbClr val="0D9488"/>
                </a:solidFill>
                <a:latin typeface="Consolas"/>
              </a:defRPr>
            </a:pPr>
            <a:r>
              <a:t>  sas.merge</a:t>
            </a:r>
          </a:p>
          <a:p>
            <a:pPr>
              <a:spcBef>
                <a:spcPts val="100"/>
              </a:spcBef>
              <a:spcAft>
                <a:spcPts val="100"/>
              </a:spcAft>
              <a:defRPr sz="900">
                <a:solidFill>
                  <a:srgbClr val="0D9488"/>
                </a:solidFill>
                <a:latin typeface="Consolas"/>
              </a:defRPr>
            </a:pPr>
            <a:r>
              <a:t>  sas.proc_sql</a:t>
            </a:r>
          </a:p>
          <a:p>
            <a:pPr>
              <a:spcBef>
                <a:spcPts val="100"/>
              </a:spcBef>
              <a:spcAft>
                <a:spcPts val="100"/>
              </a:spcAft>
              <a:defRPr sz="900">
                <a:solidFill>
                  <a:srgbClr val="0D9488"/>
                </a:solidFill>
                <a:latin typeface="Consolas"/>
              </a:defRPr>
            </a:pPr>
            <a:r>
              <a:t>  sas.macro</a:t>
            </a:r>
          </a:p>
          <a:p>
            <a:pPr>
              <a:spcBef>
                <a:spcPts val="100"/>
              </a:spcBef>
              <a:spcAft>
                <a:spcPts val="100"/>
              </a:spcAft>
              <a:defRPr sz="900">
                <a:solidFill>
                  <a:srgbClr val="0D9488"/>
                </a:solidFill>
                <a:latin typeface="Consolas"/>
              </a:defRPr>
            </a:pPr>
            <a:r>
              <a:t>  sas.missing_values</a:t>
            </a:r>
          </a:p>
          <a:p>
            <a:pPr>
              <a:spcBef>
                <a:spcPts val="100"/>
              </a:spcBef>
              <a:spcAft>
                <a:spcPts val="100"/>
              </a:spcAft>
              <a:defRPr sz="900">
                <a:solidFill>
                  <a:srgbClr val="0D9488"/>
                </a:solidFill>
                <a:latin typeface="Consolas"/>
              </a:defRPr>
            </a:pPr>
            <a:r>
              <a:t>  sas.numeric_precision</a:t>
            </a:r>
          </a:p>
        </p:txBody>
      </p:sp>
      <p:sp>
        <p:nvSpPr>
          <p:cNvPr id="10" name="Rounded Rectangle 9"/>
          <p:cNvSpPr/>
          <p:nvPr/>
        </p:nvSpPr>
        <p:spPr>
          <a:xfrm>
            <a:off x="731520" y="4983480"/>
            <a:ext cx="10698480" cy="502920"/>
          </a:xfrm>
          <a:prstGeom prst="roundRect">
            <a:avLst/>
          </a:prstGeom>
          <a:solidFill>
            <a:srgbClr val="ECFDF5"/>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056632"/>
            <a:ext cx="10424160" cy="365760"/>
          </a:xfrm>
          <a:prstGeom prst="rect">
            <a:avLst/>
          </a:prstGeom>
          <a:noFill/>
        </p:spPr>
        <p:txBody>
          <a:bodyPr wrap="square" lIns="0" tIns="0" rIns="0" bIns="0">
            <a:spAutoFit/>
          </a:bodyPr>
          <a:lstStyle/>
          <a:p>
            <a:pPr>
              <a:defRPr sz="900" b="1">
                <a:solidFill>
                  <a:srgbClr val="059669"/>
                </a:solidFill>
              </a:defRPr>
            </a:pPr>
          </a:p>
          <a:p>
            <a:pPr>
              <a:spcBef>
                <a:spcPts val="200"/>
              </a:spcBef>
              <a:defRPr sz="950">
                <a:solidFill>
                  <a:srgbClr val="059669"/>
                </a:solidFill>
              </a:defRPr>
            </a:pPr>
            <a:r>
              <a:t>This avoids an enormous static system prompt. The model gets precisely the knowledge it needs based on the classified failure. The skill corpus becomes the most valuable asset in the system over time.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94A3B8"/>
                </a:solidFill>
              </a:defRPr>
            </a:pPr>
            <a:r>
              <a:t>FINDING 12 · THE 12 FROZEN INVARIANTS</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FFFFFF"/>
                </a:solidFill>
              </a:defRPr>
            </a:pPr>
            <a:r>
              <a:t>Architectural Rules Locked Before Any Code Was Written</a:t>
            </a:r>
          </a:p>
          <a:p>
            <a:pPr>
              <a:spcBef>
                <a:spcPts val="300"/>
              </a:spcBef>
              <a:defRPr sz="1050">
                <a:solidFill>
                  <a:srgbClr val="94A3B8"/>
                </a:solidFill>
              </a:defRPr>
            </a:pPr>
            <a:r>
              <a:t>These invariants are non-negotiable. Every component, test, and deployment must satisfy all twelve.</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64748B"/>
                </a:solidFill>
              </a:defRPr>
            </a:pPr>
            <a:r>
              <a:t>SAS → PySpark Migration OS  ·  Architectural Evolution  ·  14/18</a:t>
            </a:r>
          </a:p>
        </p:txBody>
      </p:sp>
      <p:sp>
        <p:nvSpPr>
          <p:cNvPr id="6" name="Rounded Rectangle 5"/>
          <p:cNvSpPr/>
          <p:nvPr/>
        </p:nvSpPr>
        <p:spPr>
          <a:xfrm>
            <a:off x="731520" y="1600200"/>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55064"/>
            <a:ext cx="10332720" cy="256032"/>
          </a:xfrm>
          <a:prstGeom prst="rect">
            <a:avLst/>
          </a:prstGeom>
          <a:noFill/>
        </p:spPr>
        <p:txBody>
          <a:bodyPr wrap="square" lIns="0" tIns="0" rIns="0" bIns="0">
            <a:spAutoFit/>
          </a:bodyPr>
          <a:lstStyle/>
          <a:p>
            <a:pPr>
              <a:defRPr sz="1000"/>
            </a:pPr>
            <a:r>
              <a:rPr b="1">
                <a:solidFill>
                  <a:srgbClr val="0EA5E9"/>
                </a:solidFill>
                <a:latin typeface="Consolas"/>
              </a:rPr>
              <a:t>I1  </a:t>
            </a:r>
            <a:r>
              <a:rPr>
                <a:solidFill>
                  <a:srgbClr val="FFFFFF"/>
                </a:solidFill>
              </a:rPr>
              <a:t>Every action has an immutable execution identity.</a:t>
            </a:r>
          </a:p>
        </p:txBody>
      </p:sp>
      <p:sp>
        <p:nvSpPr>
          <p:cNvPr id="8" name="Rounded Rectangle 7"/>
          <p:cNvSpPr/>
          <p:nvPr/>
        </p:nvSpPr>
        <p:spPr>
          <a:xfrm>
            <a:off x="731520" y="1984248"/>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39112"/>
            <a:ext cx="10332720" cy="256032"/>
          </a:xfrm>
          <a:prstGeom prst="rect">
            <a:avLst/>
          </a:prstGeom>
          <a:noFill/>
        </p:spPr>
        <p:txBody>
          <a:bodyPr wrap="square" lIns="0" tIns="0" rIns="0" bIns="0">
            <a:spAutoFit/>
          </a:bodyPr>
          <a:lstStyle/>
          <a:p>
            <a:pPr>
              <a:defRPr sz="1000"/>
            </a:pPr>
            <a:r>
              <a:rPr b="1">
                <a:solidFill>
                  <a:srgbClr val="0EA5E9"/>
                </a:solidFill>
                <a:latin typeface="Consolas"/>
              </a:rPr>
              <a:t>I2  </a:t>
            </a:r>
            <a:r>
              <a:rPr>
                <a:solidFill>
                  <a:srgbClr val="FFFFFF"/>
                </a:solidFill>
              </a:rPr>
              <a:t>Every model-visible fact is reconstructable from durable events.</a:t>
            </a:r>
          </a:p>
        </p:txBody>
      </p:sp>
      <p:sp>
        <p:nvSpPr>
          <p:cNvPr id="10" name="Rounded Rectangle 9"/>
          <p:cNvSpPr/>
          <p:nvPr/>
        </p:nvSpPr>
        <p:spPr>
          <a:xfrm>
            <a:off x="731520" y="2368296"/>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23160"/>
            <a:ext cx="10332720" cy="256032"/>
          </a:xfrm>
          <a:prstGeom prst="rect">
            <a:avLst/>
          </a:prstGeom>
          <a:noFill/>
        </p:spPr>
        <p:txBody>
          <a:bodyPr wrap="square" lIns="0" tIns="0" rIns="0" bIns="0">
            <a:spAutoFit/>
          </a:bodyPr>
          <a:lstStyle/>
          <a:p>
            <a:pPr>
              <a:defRPr sz="1000"/>
            </a:pPr>
            <a:r>
              <a:rPr b="1">
                <a:solidFill>
                  <a:srgbClr val="0EA5E9"/>
                </a:solidFill>
                <a:latin typeface="Consolas"/>
              </a:rPr>
              <a:t>I3  </a:t>
            </a:r>
            <a:r>
              <a:rPr>
                <a:solidFill>
                  <a:srgbClr val="FFFFFF"/>
                </a:solidFill>
              </a:rPr>
              <a:t>Tool denials cannot be reversed by later middleware. (Monotonic)</a:t>
            </a:r>
          </a:p>
        </p:txBody>
      </p:sp>
      <p:sp>
        <p:nvSpPr>
          <p:cNvPr id="12" name="Rounded Rectangle 11"/>
          <p:cNvSpPr/>
          <p:nvPr/>
        </p:nvSpPr>
        <p:spPr>
          <a:xfrm>
            <a:off x="731520" y="2752344"/>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807208"/>
            <a:ext cx="10332720" cy="256032"/>
          </a:xfrm>
          <a:prstGeom prst="rect">
            <a:avLst/>
          </a:prstGeom>
          <a:noFill/>
        </p:spPr>
        <p:txBody>
          <a:bodyPr wrap="square" lIns="0" tIns="0" rIns="0" bIns="0">
            <a:spAutoFit/>
          </a:bodyPr>
          <a:lstStyle/>
          <a:p>
            <a:pPr>
              <a:defRPr sz="1000"/>
            </a:pPr>
            <a:r>
              <a:rPr b="1">
                <a:solidFill>
                  <a:srgbClr val="0EA5E9"/>
                </a:solidFill>
                <a:latin typeface="Consolas"/>
              </a:rPr>
              <a:t>I4  </a:t>
            </a:r>
            <a:r>
              <a:rPr>
                <a:solidFill>
                  <a:srgbClr val="FFFFFF"/>
                </a:solidFill>
              </a:rPr>
              <a:t>Code artifacts are immutable. (Content-addressed)</a:t>
            </a:r>
          </a:p>
        </p:txBody>
      </p:sp>
      <p:sp>
        <p:nvSpPr>
          <p:cNvPr id="14" name="Rounded Rectangle 13"/>
          <p:cNvSpPr/>
          <p:nvPr/>
        </p:nvSpPr>
        <p:spPr>
          <a:xfrm>
            <a:off x="731520" y="3136391"/>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191255"/>
            <a:ext cx="10332720" cy="256032"/>
          </a:xfrm>
          <a:prstGeom prst="rect">
            <a:avLst/>
          </a:prstGeom>
          <a:noFill/>
        </p:spPr>
        <p:txBody>
          <a:bodyPr wrap="square" lIns="0" tIns="0" rIns="0" bIns="0">
            <a:spAutoFit/>
          </a:bodyPr>
          <a:lstStyle/>
          <a:p>
            <a:pPr>
              <a:defRPr sz="1000"/>
            </a:pPr>
            <a:r>
              <a:rPr b="1">
                <a:solidFill>
                  <a:srgbClr val="0EA5E9"/>
                </a:solidFill>
                <a:latin typeface="Consolas"/>
              </a:rPr>
              <a:t>I5  </a:t>
            </a:r>
            <a:r>
              <a:rPr>
                <a:solidFill>
                  <a:srgbClr val="FFFFFF"/>
                </a:solidFill>
              </a:rPr>
              <a:t>Input datasets are snapshot-addressable.</a:t>
            </a:r>
          </a:p>
        </p:txBody>
      </p:sp>
      <p:sp>
        <p:nvSpPr>
          <p:cNvPr id="16" name="Rounded Rectangle 15"/>
          <p:cNvSpPr/>
          <p:nvPr/>
        </p:nvSpPr>
        <p:spPr>
          <a:xfrm>
            <a:off x="731520" y="3520440"/>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575304"/>
            <a:ext cx="10332720" cy="256032"/>
          </a:xfrm>
          <a:prstGeom prst="rect">
            <a:avLst/>
          </a:prstGeom>
          <a:noFill/>
        </p:spPr>
        <p:txBody>
          <a:bodyPr wrap="square" lIns="0" tIns="0" rIns="0" bIns="0">
            <a:spAutoFit/>
          </a:bodyPr>
          <a:lstStyle/>
          <a:p>
            <a:pPr>
              <a:defRPr sz="1000"/>
            </a:pPr>
            <a:r>
              <a:rPr b="1">
                <a:solidFill>
                  <a:srgbClr val="0EA5E9"/>
                </a:solidFill>
                <a:latin typeface="Consolas"/>
              </a:rPr>
              <a:t>I6  </a:t>
            </a:r>
            <a:r>
              <a:rPr>
                <a:solidFill>
                  <a:srgbClr val="FFFFFF"/>
                </a:solidFill>
              </a:rPr>
              <a:t>SAS and Spark executions reference the same input snapshot.</a:t>
            </a:r>
          </a:p>
        </p:txBody>
      </p:sp>
      <p:sp>
        <p:nvSpPr>
          <p:cNvPr id="18" name="Rounded Rectangle 17"/>
          <p:cNvSpPr/>
          <p:nvPr/>
        </p:nvSpPr>
        <p:spPr>
          <a:xfrm>
            <a:off x="731520" y="3904487"/>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959351"/>
            <a:ext cx="10332720" cy="256032"/>
          </a:xfrm>
          <a:prstGeom prst="rect">
            <a:avLst/>
          </a:prstGeom>
          <a:noFill/>
        </p:spPr>
        <p:txBody>
          <a:bodyPr wrap="square" lIns="0" tIns="0" rIns="0" bIns="0">
            <a:spAutoFit/>
          </a:bodyPr>
          <a:lstStyle/>
          <a:p>
            <a:pPr>
              <a:defRPr sz="1000"/>
            </a:pPr>
            <a:r>
              <a:rPr b="1">
                <a:solidFill>
                  <a:srgbClr val="0EA5E9"/>
                </a:solidFill>
                <a:latin typeface="Consolas"/>
              </a:rPr>
              <a:t>I7  </a:t>
            </a:r>
            <a:r>
              <a:rPr>
                <a:solidFill>
                  <a:srgbClr val="FFFFFF"/>
                </a:solidFill>
              </a:rPr>
              <a:t>LLM output never establishes parity. (Zero authority)</a:t>
            </a:r>
          </a:p>
        </p:txBody>
      </p:sp>
      <p:sp>
        <p:nvSpPr>
          <p:cNvPr id="20" name="Rounded Rectangle 19"/>
          <p:cNvSpPr/>
          <p:nvPr/>
        </p:nvSpPr>
        <p:spPr>
          <a:xfrm>
            <a:off x="731520" y="4288536"/>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343400"/>
            <a:ext cx="10332720" cy="256032"/>
          </a:xfrm>
          <a:prstGeom prst="rect">
            <a:avLst/>
          </a:prstGeom>
          <a:noFill/>
        </p:spPr>
        <p:txBody>
          <a:bodyPr wrap="square" lIns="0" tIns="0" rIns="0" bIns="0">
            <a:spAutoFit/>
          </a:bodyPr>
          <a:lstStyle/>
          <a:p>
            <a:pPr>
              <a:defRPr sz="1000"/>
            </a:pPr>
            <a:r>
              <a:rPr b="1">
                <a:solidFill>
                  <a:srgbClr val="0EA5E9"/>
                </a:solidFill>
                <a:latin typeface="Consolas"/>
              </a:rPr>
              <a:t>I8  </a:t>
            </a:r>
            <a:r>
              <a:rPr>
                <a:solidFill>
                  <a:srgbClr val="FFFFFF"/>
                </a:solidFill>
              </a:rPr>
              <a:t>Reconciliation result determines migration success.</a:t>
            </a:r>
          </a:p>
        </p:txBody>
      </p:sp>
      <p:sp>
        <p:nvSpPr>
          <p:cNvPr id="22" name="Rounded Rectangle 21"/>
          <p:cNvSpPr/>
          <p:nvPr/>
        </p:nvSpPr>
        <p:spPr>
          <a:xfrm>
            <a:off x="731520" y="4672583"/>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727447"/>
            <a:ext cx="10332720" cy="256032"/>
          </a:xfrm>
          <a:prstGeom prst="rect">
            <a:avLst/>
          </a:prstGeom>
          <a:noFill/>
        </p:spPr>
        <p:txBody>
          <a:bodyPr wrap="square" lIns="0" tIns="0" rIns="0" bIns="0">
            <a:spAutoFit/>
          </a:bodyPr>
          <a:lstStyle/>
          <a:p>
            <a:pPr>
              <a:defRPr sz="1000"/>
            </a:pPr>
            <a:r>
              <a:rPr b="1">
                <a:solidFill>
                  <a:srgbClr val="0EA5E9"/>
                </a:solidFill>
                <a:latin typeface="Consolas"/>
              </a:rPr>
              <a:t>I9  </a:t>
            </a:r>
            <a:r>
              <a:rPr>
                <a:solidFill>
                  <a:srgbClr val="FFFFFF"/>
                </a:solidFill>
              </a:rPr>
              <a:t>Every repair has a parent artifact. (Lineage chain)</a:t>
            </a:r>
          </a:p>
        </p:txBody>
      </p:sp>
      <p:sp>
        <p:nvSpPr>
          <p:cNvPr id="24" name="Rounded Rectangle 23"/>
          <p:cNvSpPr/>
          <p:nvPr/>
        </p:nvSpPr>
        <p:spPr>
          <a:xfrm>
            <a:off x="731520" y="5056631"/>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111495"/>
            <a:ext cx="10332720" cy="256032"/>
          </a:xfrm>
          <a:prstGeom prst="rect">
            <a:avLst/>
          </a:prstGeom>
          <a:noFill/>
        </p:spPr>
        <p:txBody>
          <a:bodyPr wrap="square" lIns="0" tIns="0" rIns="0" bIns="0">
            <a:spAutoFit/>
          </a:bodyPr>
          <a:lstStyle/>
          <a:p>
            <a:pPr>
              <a:defRPr sz="1000"/>
            </a:pPr>
            <a:r>
              <a:rPr b="1">
                <a:solidFill>
                  <a:srgbClr val="0EA5E9"/>
                </a:solidFill>
                <a:latin typeface="Consolas"/>
              </a:rPr>
              <a:t>I10  </a:t>
            </a:r>
            <a:r>
              <a:rPr>
                <a:solidFill>
                  <a:srgbClr val="FFFFFF"/>
                </a:solidFill>
              </a:rPr>
              <a:t>Every approval is bound to an exact action/artifact identity.</a:t>
            </a:r>
          </a:p>
        </p:txBody>
      </p:sp>
      <p:sp>
        <p:nvSpPr>
          <p:cNvPr id="26" name="Rounded Rectangle 25"/>
          <p:cNvSpPr/>
          <p:nvPr/>
        </p:nvSpPr>
        <p:spPr>
          <a:xfrm>
            <a:off x="731520" y="5440680"/>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495544"/>
            <a:ext cx="10332720" cy="256032"/>
          </a:xfrm>
          <a:prstGeom prst="rect">
            <a:avLst/>
          </a:prstGeom>
          <a:noFill/>
        </p:spPr>
        <p:txBody>
          <a:bodyPr wrap="square" lIns="0" tIns="0" rIns="0" bIns="0">
            <a:spAutoFit/>
          </a:bodyPr>
          <a:lstStyle/>
          <a:p>
            <a:pPr>
              <a:defRPr sz="1000"/>
            </a:pPr>
            <a:r>
              <a:rPr b="1">
                <a:solidFill>
                  <a:srgbClr val="0EA5E9"/>
                </a:solidFill>
                <a:latin typeface="Consolas"/>
              </a:rPr>
              <a:t>I11  </a:t>
            </a:r>
            <a:r>
              <a:rPr>
                <a:solidFill>
                  <a:srgbClr val="FFFFFF"/>
                </a:solidFill>
              </a:rPr>
              <a:t>Every migration can be replayed from persisted events.</a:t>
            </a:r>
          </a:p>
        </p:txBody>
      </p:sp>
      <p:sp>
        <p:nvSpPr>
          <p:cNvPr id="28" name="Rounded Rectangle 27"/>
          <p:cNvSpPr/>
          <p:nvPr/>
        </p:nvSpPr>
        <p:spPr>
          <a:xfrm>
            <a:off x="731520" y="5824728"/>
            <a:ext cx="10698480" cy="347472"/>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879592"/>
            <a:ext cx="10332720" cy="256032"/>
          </a:xfrm>
          <a:prstGeom prst="rect">
            <a:avLst/>
          </a:prstGeom>
          <a:noFill/>
        </p:spPr>
        <p:txBody>
          <a:bodyPr wrap="square" lIns="0" tIns="0" rIns="0" bIns="0">
            <a:spAutoFit/>
          </a:bodyPr>
          <a:lstStyle/>
          <a:p>
            <a:pPr>
              <a:defRPr sz="1000"/>
            </a:pPr>
            <a:r>
              <a:rPr b="1">
                <a:solidFill>
                  <a:srgbClr val="0EA5E9"/>
                </a:solidFill>
                <a:latin typeface="Consolas"/>
              </a:rPr>
              <a:t>I12  </a:t>
            </a:r>
            <a:r>
              <a:rPr>
                <a:solidFill>
                  <a:srgbClr val="FFFFFF"/>
                </a:solidFill>
              </a:rPr>
              <a:t>Every final certificate can be regenerated from persisted evidence.</a:t>
            </a:r>
          </a:p>
        </p:txBody>
      </p:sp>
      <p:sp>
        <p:nvSpPr>
          <p:cNvPr id="30" name="Rounded Rectangle 29"/>
          <p:cNvSpPr/>
          <p:nvPr/>
        </p:nvSpPr>
        <p:spPr>
          <a:xfrm>
            <a:off x="731520" y="6263640"/>
            <a:ext cx="10698480" cy="502920"/>
          </a:xfrm>
          <a:prstGeom prst="roundRect">
            <a:avLst/>
          </a:prstGeom>
          <a:solidFill>
            <a:srgbClr val="1E293B"/>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6336792"/>
            <a:ext cx="10424160" cy="365760"/>
          </a:xfrm>
          <a:prstGeom prst="rect">
            <a:avLst/>
          </a:prstGeom>
          <a:noFill/>
        </p:spPr>
        <p:txBody>
          <a:bodyPr wrap="square" lIns="0" tIns="0" rIns="0" bIns="0">
            <a:spAutoFit/>
          </a:bodyPr>
          <a:lstStyle/>
          <a:p>
            <a:pPr>
              <a:defRPr sz="900" b="1">
                <a:solidFill>
                  <a:srgbClr val="0EA5E9"/>
                </a:solidFill>
              </a:defRPr>
            </a:pPr>
          </a:p>
          <a:p>
            <a:pPr>
              <a:spcBef>
                <a:spcPts val="200"/>
              </a:spcBef>
              <a:defRPr sz="950">
                <a:solidFill>
                  <a:srgbClr val="0EA5E9"/>
                </a:solidFill>
              </a:defRPr>
            </a:pPr>
            <a:r>
              <a:t>These were documented before the first line of code. Phase 0 is disproportionately important — getting these wrong invalidates all subsequent engineering.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13 · THE ACTUAL MOAT</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Not "We Use GPT" — An 8-Layer Stack That Is Substantially Harder to Reproduce</a:t>
            </a:r>
          </a:p>
          <a:p>
            <a:pPr>
              <a:spcBef>
                <a:spcPts val="300"/>
              </a:spcBef>
              <a:defRPr sz="1050">
                <a:solidFill>
                  <a:srgbClr val="64748B"/>
                </a:solidFill>
              </a:defRPr>
            </a:pPr>
            <a:r>
              <a:t>Commercial products already provide conversion. LLMs already translate syntax. What is difficult is proving semantic equivalence.</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15/18</a:t>
            </a:r>
          </a:p>
        </p:txBody>
      </p:sp>
      <p:sp>
        <p:nvSpPr>
          <p:cNvPr id="6" name="Rounded Rectangle 5"/>
          <p:cNvSpPr/>
          <p:nvPr/>
        </p:nvSpPr>
        <p:spPr>
          <a:xfrm>
            <a:off x="731520" y="1600200"/>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09928"/>
            <a:ext cx="457200" cy="34747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1</a:t>
            </a:r>
          </a:p>
        </p:txBody>
      </p:sp>
      <p:sp>
        <p:nvSpPr>
          <p:cNvPr id="8" name="TextBox 7"/>
          <p:cNvSpPr txBox="1"/>
          <p:nvPr/>
        </p:nvSpPr>
        <p:spPr>
          <a:xfrm>
            <a:off x="1463040" y="1673352"/>
            <a:ext cx="9784080" cy="457200"/>
          </a:xfrm>
          <a:prstGeom prst="rect">
            <a:avLst/>
          </a:prstGeom>
          <a:noFill/>
        </p:spPr>
        <p:txBody>
          <a:bodyPr wrap="square" lIns="0" tIns="0" rIns="0" bIns="0">
            <a:spAutoFit/>
          </a:bodyPr>
          <a:lstStyle/>
          <a:p>
            <a:pPr>
              <a:defRPr sz="1050"/>
            </a:pPr>
            <a:r>
              <a:rPr b="1">
                <a:solidFill>
                  <a:srgbClr val="4F46E5"/>
                </a:solidFill>
              </a:rPr>
              <a:t>SAS Semantic Knowledge</a:t>
            </a:r>
            <a:r>
              <a:rPr>
                <a:solidFill>
                  <a:srgbClr val="0F172A"/>
                </a:solidFill>
              </a:rPr>
              <a:t>  —  Codified understanding of 28 missing values, BY-group boundaries, implicit coercion, MERGE overwrites, RETAIN state</a:t>
            </a:r>
          </a:p>
        </p:txBody>
      </p:sp>
      <p:sp>
        <p:nvSpPr>
          <p:cNvPr id="9" name="Rounded Rectangle 8"/>
          <p:cNvSpPr/>
          <p:nvPr/>
        </p:nvSpPr>
        <p:spPr>
          <a:xfrm>
            <a:off x="731520" y="2221992"/>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2331720"/>
            <a:ext cx="45720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2</a:t>
            </a:r>
          </a:p>
        </p:txBody>
      </p:sp>
      <p:sp>
        <p:nvSpPr>
          <p:cNvPr id="11" name="TextBox 10"/>
          <p:cNvSpPr txBox="1"/>
          <p:nvPr/>
        </p:nvSpPr>
        <p:spPr>
          <a:xfrm>
            <a:off x="1463040" y="2295144"/>
            <a:ext cx="9784080" cy="457200"/>
          </a:xfrm>
          <a:prstGeom prst="rect">
            <a:avLst/>
          </a:prstGeom>
          <a:noFill/>
        </p:spPr>
        <p:txBody>
          <a:bodyPr wrap="square" lIns="0" tIns="0" rIns="0" bIns="0">
            <a:spAutoFit/>
          </a:bodyPr>
          <a:lstStyle/>
          <a:p>
            <a:pPr>
              <a:defRPr sz="1050"/>
            </a:pPr>
            <a:r>
              <a:rPr b="1">
                <a:solidFill>
                  <a:srgbClr val="2563EB"/>
                </a:solidFill>
              </a:rPr>
              <a:t>Semantic IR with Provenance</a:t>
            </a:r>
            <a:r>
              <a:rPr>
                <a:solidFill>
                  <a:srgbClr val="0F172A"/>
                </a:solidFill>
              </a:rPr>
              <a:t>  —  Every generated line traces to a SAS source span via an intermediate representation node with confidence scores</a:t>
            </a:r>
          </a:p>
        </p:txBody>
      </p:sp>
      <p:sp>
        <p:nvSpPr>
          <p:cNvPr id="12" name="Rounded Rectangle 11"/>
          <p:cNvSpPr/>
          <p:nvPr/>
        </p:nvSpPr>
        <p:spPr>
          <a:xfrm>
            <a:off x="731520" y="2843784"/>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2953512"/>
            <a:ext cx="457200" cy="347472"/>
          </a:xfrm>
          <a:prstGeom prst="round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3</a:t>
            </a:r>
          </a:p>
        </p:txBody>
      </p:sp>
      <p:sp>
        <p:nvSpPr>
          <p:cNvPr id="14" name="TextBox 13"/>
          <p:cNvSpPr txBox="1"/>
          <p:nvPr/>
        </p:nvSpPr>
        <p:spPr>
          <a:xfrm>
            <a:off x="1463040" y="2916936"/>
            <a:ext cx="9784080" cy="457200"/>
          </a:xfrm>
          <a:prstGeom prst="rect">
            <a:avLst/>
          </a:prstGeom>
          <a:noFill/>
        </p:spPr>
        <p:txBody>
          <a:bodyPr wrap="square" lIns="0" tIns="0" rIns="0" bIns="0">
            <a:spAutoFit/>
          </a:bodyPr>
          <a:lstStyle/>
          <a:p>
            <a:pPr>
              <a:defRPr sz="1050"/>
            </a:pPr>
            <a:r>
              <a:rPr b="1">
                <a:solidFill>
                  <a:srgbClr val="F97316"/>
                </a:solidFill>
              </a:rPr>
              <a:t>Dual Execution Truth</a:t>
            </a:r>
            <a:r>
              <a:rPr>
                <a:solidFill>
                  <a:srgbClr val="0F172A"/>
                </a:solidFill>
              </a:rPr>
              <a:t>  —  Same input snapshot executed on both SAS and Spark with full environment fingerprinting</a:t>
            </a:r>
          </a:p>
        </p:txBody>
      </p:sp>
      <p:sp>
        <p:nvSpPr>
          <p:cNvPr id="15" name="Rounded Rectangle 14"/>
          <p:cNvSpPr/>
          <p:nvPr/>
        </p:nvSpPr>
        <p:spPr>
          <a:xfrm>
            <a:off x="731520" y="3465576"/>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3575304"/>
            <a:ext cx="457200" cy="34747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4</a:t>
            </a:r>
          </a:p>
        </p:txBody>
      </p:sp>
      <p:sp>
        <p:nvSpPr>
          <p:cNvPr id="17" name="TextBox 16"/>
          <p:cNvSpPr txBox="1"/>
          <p:nvPr/>
        </p:nvSpPr>
        <p:spPr>
          <a:xfrm>
            <a:off x="1463040" y="3538728"/>
            <a:ext cx="9784080" cy="457200"/>
          </a:xfrm>
          <a:prstGeom prst="rect">
            <a:avLst/>
          </a:prstGeom>
          <a:noFill/>
        </p:spPr>
        <p:txBody>
          <a:bodyPr wrap="square" lIns="0" tIns="0" rIns="0" bIns="0">
            <a:spAutoFit/>
          </a:bodyPr>
          <a:lstStyle/>
          <a:p>
            <a:pPr>
              <a:defRPr sz="1050"/>
            </a:pPr>
            <a:r>
              <a:rPr b="1">
                <a:solidFill>
                  <a:srgbClr val="059669"/>
                </a:solidFill>
              </a:rPr>
              <a:t>3-Level Reconciliation</a:t>
            </a:r>
            <a:r>
              <a:rPr>
                <a:solidFill>
                  <a:srgbClr val="0F172A"/>
                </a:solidFill>
              </a:rPr>
              <a:t>  —  Schema equivalence classes + aggregate metrics with versioned tolerance + KEYED/ORDERED/MULTISET row hash</a:t>
            </a:r>
          </a:p>
        </p:txBody>
      </p:sp>
      <p:sp>
        <p:nvSpPr>
          <p:cNvPr id="18" name="Rounded Rectangle 17"/>
          <p:cNvSpPr/>
          <p:nvPr/>
        </p:nvSpPr>
        <p:spPr>
          <a:xfrm>
            <a:off x="731520" y="4087368"/>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197096"/>
            <a:ext cx="457200" cy="347472"/>
          </a:xfrm>
          <a:prstGeom prst="round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5</a:t>
            </a:r>
          </a:p>
        </p:txBody>
      </p:sp>
      <p:sp>
        <p:nvSpPr>
          <p:cNvPr id="20" name="TextBox 19"/>
          <p:cNvSpPr txBox="1"/>
          <p:nvPr/>
        </p:nvSpPr>
        <p:spPr>
          <a:xfrm>
            <a:off x="1463040" y="4160520"/>
            <a:ext cx="9784080" cy="457200"/>
          </a:xfrm>
          <a:prstGeom prst="rect">
            <a:avLst/>
          </a:prstGeom>
          <a:noFill/>
        </p:spPr>
        <p:txBody>
          <a:bodyPr wrap="square" lIns="0" tIns="0" rIns="0" bIns="0">
            <a:spAutoFit/>
          </a:bodyPr>
          <a:lstStyle/>
          <a:p>
            <a:pPr>
              <a:defRPr sz="1050"/>
            </a:pPr>
            <a:r>
              <a:rPr b="1">
                <a:solidFill>
                  <a:srgbClr val="0D9488"/>
                </a:solidFill>
              </a:rPr>
              <a:t>Difference Localization</a:t>
            </a:r>
            <a:r>
              <a:rPr>
                <a:solidFill>
                  <a:srgbClr val="0F172A"/>
                </a:solidFill>
              </a:rPr>
              <a:t>  —  Deterministic classifier (not LLM) maps failures to: schema/join/filtering/null/coercion/date/precision/ordering</a:t>
            </a:r>
          </a:p>
        </p:txBody>
      </p:sp>
      <p:sp>
        <p:nvSpPr>
          <p:cNvPr id="21" name="Rounded Rectangle 20"/>
          <p:cNvSpPr/>
          <p:nvPr/>
        </p:nvSpPr>
        <p:spPr>
          <a:xfrm>
            <a:off x="731520" y="4709160"/>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8680" y="4818888"/>
            <a:ext cx="457200" cy="347472"/>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6</a:t>
            </a:r>
          </a:p>
        </p:txBody>
      </p:sp>
      <p:sp>
        <p:nvSpPr>
          <p:cNvPr id="23" name="TextBox 22"/>
          <p:cNvSpPr txBox="1"/>
          <p:nvPr/>
        </p:nvSpPr>
        <p:spPr>
          <a:xfrm>
            <a:off x="1463040" y="4782312"/>
            <a:ext cx="9784080" cy="457200"/>
          </a:xfrm>
          <a:prstGeom prst="rect">
            <a:avLst/>
          </a:prstGeom>
          <a:noFill/>
        </p:spPr>
        <p:txBody>
          <a:bodyPr wrap="square" lIns="0" tIns="0" rIns="0" bIns="0">
            <a:spAutoFit/>
          </a:bodyPr>
          <a:lstStyle/>
          <a:p>
            <a:pPr>
              <a:defRPr sz="1050"/>
            </a:pPr>
            <a:r>
              <a:rPr b="1">
                <a:solidFill>
                  <a:srgbClr val="0EA5E9"/>
                </a:solidFill>
              </a:rPr>
              <a:t>Counterexample Testing</a:t>
            </a:r>
            <a:r>
              <a:rPr>
                <a:solidFill>
                  <a:srgbClr val="0F172A"/>
                </a:solidFill>
              </a:rPr>
              <a:t>  —  Synthesized micro-datasets isolate exact semantic divergence without full production reruns</a:t>
            </a:r>
          </a:p>
        </p:txBody>
      </p:sp>
      <p:sp>
        <p:nvSpPr>
          <p:cNvPr id="24" name="Rounded Rectangle 23"/>
          <p:cNvSpPr/>
          <p:nvPr/>
        </p:nvSpPr>
        <p:spPr>
          <a:xfrm>
            <a:off x="731520" y="5330952"/>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68680" y="5440680"/>
            <a:ext cx="4572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7</a:t>
            </a:r>
          </a:p>
        </p:txBody>
      </p:sp>
      <p:sp>
        <p:nvSpPr>
          <p:cNvPr id="26" name="TextBox 25"/>
          <p:cNvSpPr txBox="1"/>
          <p:nvPr/>
        </p:nvSpPr>
        <p:spPr>
          <a:xfrm>
            <a:off x="1463040" y="5404104"/>
            <a:ext cx="9784080" cy="457200"/>
          </a:xfrm>
          <a:prstGeom prst="rect">
            <a:avLst/>
          </a:prstGeom>
          <a:noFill/>
        </p:spPr>
        <p:txBody>
          <a:bodyPr wrap="square" lIns="0" tIns="0" rIns="0" bIns="0">
            <a:spAutoFit/>
          </a:bodyPr>
          <a:lstStyle/>
          <a:p>
            <a:pPr>
              <a:defRPr sz="1050"/>
            </a:pPr>
            <a:r>
              <a:rPr b="1">
                <a:solidFill>
                  <a:srgbClr val="7C3AED"/>
                </a:solidFill>
              </a:rPr>
              <a:t>Verified Self-Repair</a:t>
            </a:r>
            <a:r>
              <a:rPr>
                <a:solidFill>
                  <a:srgbClr val="0F172A"/>
                </a:solidFill>
              </a:rPr>
              <a:t>  —  Patch-first surgical diffs with monotonic guards, oscillation detection, and regression checks</a:t>
            </a:r>
          </a:p>
        </p:txBody>
      </p:sp>
      <p:sp>
        <p:nvSpPr>
          <p:cNvPr id="27" name="Rounded Rectangle 26"/>
          <p:cNvSpPr/>
          <p:nvPr/>
        </p:nvSpPr>
        <p:spPr>
          <a:xfrm>
            <a:off x="731520" y="5952744"/>
            <a:ext cx="10698480" cy="56692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68680" y="6062472"/>
            <a:ext cx="457200" cy="34747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8</a:t>
            </a:r>
          </a:p>
        </p:txBody>
      </p:sp>
      <p:sp>
        <p:nvSpPr>
          <p:cNvPr id="29" name="TextBox 28"/>
          <p:cNvSpPr txBox="1"/>
          <p:nvPr/>
        </p:nvSpPr>
        <p:spPr>
          <a:xfrm>
            <a:off x="1463040" y="6025896"/>
            <a:ext cx="9784080" cy="457200"/>
          </a:xfrm>
          <a:prstGeom prst="rect">
            <a:avLst/>
          </a:prstGeom>
          <a:noFill/>
        </p:spPr>
        <p:txBody>
          <a:bodyPr wrap="square" lIns="0" tIns="0" rIns="0" bIns="0">
            <a:spAutoFit/>
          </a:bodyPr>
          <a:lstStyle/>
          <a:p>
            <a:pPr>
              <a:defRPr sz="1050"/>
            </a:pPr>
            <a:r>
              <a:rPr b="1">
                <a:solidFill>
                  <a:srgbClr val="E11D48"/>
                </a:solidFill>
              </a:rPr>
              <a:t>Immutable Evidence Chain</a:t>
            </a:r>
            <a:r>
              <a:rPr>
                <a:solidFill>
                  <a:srgbClr val="0F172A"/>
                </a:solidFill>
              </a:rPr>
              <a:t>  —  Tamper-evident Merkle hash chain producing a verifiable Migration Certificate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FINDING 14 · THE METRIC THAT ACTUALLY MATTERS</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False Parity Rate: A System That Falsely Says PASS Is Worse Than One That Escalates</a:t>
            </a:r>
          </a:p>
          <a:p>
            <a:pPr>
              <a:spcBef>
                <a:spcPts val="300"/>
              </a:spcBef>
              <a:defRPr sz="1050">
                <a:solidFill>
                  <a:srgbClr val="64748B"/>
                </a:solidFill>
              </a:defRPr>
            </a:pPr>
            <a:r>
              <a:t>Forget 'LLM accuracy'. Track: false_parity_rate, regression_rate, repair_cycle_rate, certificate_completeness.</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16/18</a:t>
            </a:r>
          </a:p>
        </p:txBody>
      </p:sp>
      <p:sp>
        <p:nvSpPr>
          <p:cNvPr id="6" name="Rounded Rectangle 5"/>
          <p:cNvSpPr/>
          <p:nvPr/>
        </p:nvSpPr>
        <p:spPr>
          <a:xfrm>
            <a:off x="731520" y="1600200"/>
            <a:ext cx="265176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719072"/>
            <a:ext cx="2377440" cy="3474720"/>
          </a:xfrm>
          <a:prstGeom prst="rect">
            <a:avLst/>
          </a:prstGeom>
          <a:noFill/>
        </p:spPr>
        <p:txBody>
          <a:bodyPr wrap="square" lIns="0" tIns="0" rIns="0" bIns="0">
            <a:spAutoFit/>
          </a:bodyPr>
          <a:lstStyle/>
          <a:p>
            <a:pPr>
              <a:spcAft>
                <a:spcPts val="600"/>
              </a:spcAft>
              <a:defRPr sz="1100" b="1">
                <a:solidFill>
                  <a:srgbClr val="059669"/>
                </a:solidFill>
              </a:defRPr>
            </a:pPr>
            <a:r>
              <a:t>TRANSLATION</a:t>
            </a:r>
          </a:p>
          <a:p>
            <a:pPr>
              <a:spcBef>
                <a:spcPts val="100"/>
              </a:spcBef>
              <a:spcAft>
                <a:spcPts val="100"/>
              </a:spcAft>
              <a:defRPr sz="900">
                <a:solidFill>
                  <a:srgbClr val="059669"/>
                </a:solidFill>
                <a:latin typeface="Consolas"/>
              </a:defRPr>
            </a:pPr>
            <a:r>
              <a:t>  compile_success_rate</a:t>
            </a:r>
          </a:p>
          <a:p>
            <a:pPr>
              <a:spcBef>
                <a:spcPts val="100"/>
              </a:spcBef>
              <a:spcAft>
                <a:spcPts val="100"/>
              </a:spcAft>
              <a:defRPr sz="900">
                <a:solidFill>
                  <a:srgbClr val="059669"/>
                </a:solidFill>
                <a:latin typeface="Consolas"/>
              </a:defRPr>
            </a:pPr>
            <a:r>
              <a:t>  semantic_candidate_rate</a:t>
            </a:r>
          </a:p>
        </p:txBody>
      </p:sp>
      <p:sp>
        <p:nvSpPr>
          <p:cNvPr id="8" name="Rounded Rectangle 7"/>
          <p:cNvSpPr/>
          <p:nvPr/>
        </p:nvSpPr>
        <p:spPr>
          <a:xfrm>
            <a:off x="3538728" y="1600200"/>
            <a:ext cx="265176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75888" y="1719072"/>
            <a:ext cx="2377440" cy="3474720"/>
          </a:xfrm>
          <a:prstGeom prst="rect">
            <a:avLst/>
          </a:prstGeom>
          <a:noFill/>
        </p:spPr>
        <p:txBody>
          <a:bodyPr wrap="square" lIns="0" tIns="0" rIns="0" bIns="0">
            <a:spAutoFit/>
          </a:bodyPr>
          <a:lstStyle/>
          <a:p>
            <a:pPr>
              <a:spcAft>
                <a:spcPts val="600"/>
              </a:spcAft>
              <a:defRPr sz="1100" b="1">
                <a:solidFill>
                  <a:srgbClr val="2563EB"/>
                </a:solidFill>
              </a:defRPr>
            </a:pPr>
            <a:r>
              <a:t>VERIFICATION</a:t>
            </a:r>
          </a:p>
          <a:p>
            <a:pPr>
              <a:spcBef>
                <a:spcPts val="100"/>
              </a:spcBef>
              <a:spcAft>
                <a:spcPts val="100"/>
              </a:spcAft>
              <a:defRPr sz="900">
                <a:solidFill>
                  <a:srgbClr val="2563EB"/>
                </a:solidFill>
                <a:latin typeface="Consolas"/>
              </a:defRPr>
            </a:pPr>
            <a:r>
              <a:t>  schema_parity_rate</a:t>
            </a:r>
          </a:p>
          <a:p>
            <a:pPr>
              <a:spcBef>
                <a:spcPts val="100"/>
              </a:spcBef>
              <a:spcAft>
                <a:spcPts val="100"/>
              </a:spcAft>
              <a:defRPr sz="900">
                <a:solidFill>
                  <a:srgbClr val="2563EB"/>
                </a:solidFill>
                <a:latin typeface="Consolas"/>
              </a:defRPr>
            </a:pPr>
            <a:r>
              <a:t>  aggregate_parity_rate</a:t>
            </a:r>
          </a:p>
          <a:p>
            <a:pPr>
              <a:spcBef>
                <a:spcPts val="100"/>
              </a:spcBef>
              <a:spcAft>
                <a:spcPts val="100"/>
              </a:spcAft>
              <a:defRPr sz="900">
                <a:solidFill>
                  <a:srgbClr val="2563EB"/>
                </a:solidFill>
                <a:latin typeface="Consolas"/>
              </a:defRPr>
            </a:pPr>
            <a:r>
              <a:t>  row_parity_rate</a:t>
            </a:r>
          </a:p>
        </p:txBody>
      </p:sp>
      <p:sp>
        <p:nvSpPr>
          <p:cNvPr id="10" name="Rounded Rectangle 9"/>
          <p:cNvSpPr/>
          <p:nvPr/>
        </p:nvSpPr>
        <p:spPr>
          <a:xfrm>
            <a:off x="6345936" y="1600200"/>
            <a:ext cx="265176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1719072"/>
            <a:ext cx="2377440" cy="3474720"/>
          </a:xfrm>
          <a:prstGeom prst="rect">
            <a:avLst/>
          </a:prstGeom>
          <a:noFill/>
        </p:spPr>
        <p:txBody>
          <a:bodyPr wrap="square" lIns="0" tIns="0" rIns="0" bIns="0">
            <a:spAutoFit/>
          </a:bodyPr>
          <a:lstStyle/>
          <a:p>
            <a:pPr>
              <a:spcAft>
                <a:spcPts val="600"/>
              </a:spcAft>
              <a:defRPr sz="1100" b="1">
                <a:solidFill>
                  <a:srgbClr val="F97316"/>
                </a:solidFill>
              </a:defRPr>
            </a:pPr>
            <a:r>
              <a:t>REPAIR</a:t>
            </a:r>
          </a:p>
          <a:p>
            <a:pPr>
              <a:spcBef>
                <a:spcPts val="100"/>
              </a:spcBef>
              <a:spcAft>
                <a:spcPts val="100"/>
              </a:spcAft>
              <a:defRPr sz="900">
                <a:solidFill>
                  <a:srgbClr val="F97316"/>
                </a:solidFill>
                <a:latin typeface="Consolas"/>
              </a:defRPr>
            </a:pPr>
            <a:r>
              <a:t>  auto_repair_success_rate</a:t>
            </a:r>
          </a:p>
          <a:p>
            <a:pPr>
              <a:spcBef>
                <a:spcPts val="100"/>
              </a:spcBef>
              <a:spcAft>
                <a:spcPts val="100"/>
              </a:spcAft>
              <a:defRPr sz="900">
                <a:solidFill>
                  <a:srgbClr val="F97316"/>
                </a:solidFill>
                <a:latin typeface="Consolas"/>
              </a:defRPr>
            </a:pPr>
            <a:r>
              <a:t>  first_repair_success_rate</a:t>
            </a:r>
          </a:p>
          <a:p>
            <a:pPr>
              <a:spcBef>
                <a:spcPts val="100"/>
              </a:spcBef>
              <a:spcAft>
                <a:spcPts val="100"/>
              </a:spcAft>
              <a:defRPr sz="900">
                <a:solidFill>
                  <a:srgbClr val="F97316"/>
                </a:solidFill>
                <a:latin typeface="Consolas"/>
              </a:defRPr>
            </a:pPr>
            <a:r>
              <a:t>  mean_repair_iterations</a:t>
            </a:r>
          </a:p>
          <a:p>
            <a:pPr>
              <a:spcBef>
                <a:spcPts val="100"/>
              </a:spcBef>
              <a:spcAft>
                <a:spcPts val="100"/>
              </a:spcAft>
              <a:defRPr sz="900">
                <a:solidFill>
                  <a:srgbClr val="F97316"/>
                </a:solidFill>
                <a:latin typeface="Consolas"/>
              </a:defRPr>
            </a:pPr>
            <a:r>
              <a:t>  repair_cycle_rate</a:t>
            </a:r>
          </a:p>
          <a:p>
            <a:pPr>
              <a:spcBef>
                <a:spcPts val="100"/>
              </a:spcBef>
              <a:spcAft>
                <a:spcPts val="100"/>
              </a:spcAft>
              <a:defRPr sz="900">
                <a:solidFill>
                  <a:srgbClr val="F97316"/>
                </a:solidFill>
                <a:latin typeface="Consolas"/>
              </a:defRPr>
            </a:pPr>
            <a:r>
              <a:t>  regression_rate</a:t>
            </a:r>
          </a:p>
        </p:txBody>
      </p:sp>
      <p:sp>
        <p:nvSpPr>
          <p:cNvPr id="12" name="Rounded Rectangle 11"/>
          <p:cNvSpPr/>
          <p:nvPr/>
        </p:nvSpPr>
        <p:spPr>
          <a:xfrm>
            <a:off x="9153144" y="1600200"/>
            <a:ext cx="2651760" cy="374903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90304" y="1719072"/>
            <a:ext cx="2377440" cy="3474720"/>
          </a:xfrm>
          <a:prstGeom prst="rect">
            <a:avLst/>
          </a:prstGeom>
          <a:noFill/>
        </p:spPr>
        <p:txBody>
          <a:bodyPr wrap="square" lIns="0" tIns="0" rIns="0" bIns="0">
            <a:spAutoFit/>
          </a:bodyPr>
          <a:lstStyle/>
          <a:p>
            <a:pPr>
              <a:spcAft>
                <a:spcPts val="600"/>
              </a:spcAft>
              <a:defRPr sz="1100" b="1">
                <a:solidFill>
                  <a:srgbClr val="E11D48"/>
                </a:solidFill>
              </a:defRPr>
            </a:pPr>
            <a:r>
              <a:t>TRUST</a:t>
            </a:r>
          </a:p>
          <a:p>
            <a:pPr>
              <a:spcBef>
                <a:spcPts val="100"/>
              </a:spcBef>
              <a:spcAft>
                <a:spcPts val="100"/>
              </a:spcAft>
              <a:defRPr sz="900">
                <a:solidFill>
                  <a:srgbClr val="E11D48"/>
                </a:solidFill>
                <a:latin typeface="Consolas"/>
              </a:defRPr>
            </a:pPr>
            <a:r>
              <a:t>  false_parity_rate  ← THE MOST IMPORTANT</a:t>
            </a:r>
          </a:p>
          <a:p>
            <a:pPr>
              <a:spcBef>
                <a:spcPts val="100"/>
              </a:spcBef>
              <a:spcAft>
                <a:spcPts val="100"/>
              </a:spcAft>
              <a:defRPr sz="900">
                <a:solidFill>
                  <a:srgbClr val="E11D48"/>
                </a:solidFill>
                <a:latin typeface="Consolas"/>
              </a:defRPr>
            </a:pPr>
            <a:r>
              <a:t>  certificate_completeness</a:t>
            </a:r>
          </a:p>
          <a:p>
            <a:pPr>
              <a:spcBef>
                <a:spcPts val="100"/>
              </a:spcBef>
              <a:spcAft>
                <a:spcPts val="100"/>
              </a:spcAft>
              <a:defRPr sz="900">
                <a:solidFill>
                  <a:srgbClr val="E11D48"/>
                </a:solidFill>
                <a:latin typeface="Consolas"/>
              </a:defRPr>
            </a:pPr>
            <a:r>
              <a:t>  replay_success_rate</a:t>
            </a:r>
          </a:p>
          <a:p>
            <a:pPr>
              <a:spcBef>
                <a:spcPts val="100"/>
              </a:spcBef>
              <a:spcAft>
                <a:spcPts val="100"/>
              </a:spcAft>
              <a:defRPr sz="900">
                <a:solidFill>
                  <a:srgbClr val="E11D48"/>
                </a:solidFill>
                <a:latin typeface="Consolas"/>
              </a:defRPr>
            </a:pPr>
            <a:r>
              <a:t>  secret_leak_rate</a:t>
            </a:r>
          </a:p>
          <a:p>
            <a:pPr>
              <a:spcBef>
                <a:spcPts val="100"/>
              </a:spcBef>
              <a:spcAft>
                <a:spcPts val="100"/>
              </a:spcAft>
              <a:defRPr sz="900">
                <a:solidFill>
                  <a:srgbClr val="E11D48"/>
                </a:solidFill>
                <a:latin typeface="Consolas"/>
              </a:defRPr>
            </a:pPr>
            <a:r>
              <a:t>  policy_bypass_rate</a:t>
            </a:r>
          </a:p>
        </p:txBody>
      </p:sp>
      <p:sp>
        <p:nvSpPr>
          <p:cNvPr id="14" name="Rounded Rectangle 13"/>
          <p:cNvSpPr/>
          <p:nvPr/>
        </p:nvSpPr>
        <p:spPr>
          <a:xfrm>
            <a:off x="731520" y="5532120"/>
            <a:ext cx="10698480" cy="731520"/>
          </a:xfrm>
          <a:prstGeom prst="roundRect">
            <a:avLst/>
          </a:prstGeom>
          <a:solidFill>
            <a:srgbClr val="FFF1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605272"/>
            <a:ext cx="10424160" cy="594360"/>
          </a:xfrm>
          <a:prstGeom prst="rect">
            <a:avLst/>
          </a:prstGeom>
          <a:noFill/>
        </p:spPr>
        <p:txBody>
          <a:bodyPr wrap="square" lIns="0" tIns="0" rIns="0" bIns="0">
            <a:spAutoFit/>
          </a:bodyPr>
          <a:lstStyle/>
          <a:p>
            <a:pPr>
              <a:defRPr sz="900" b="1">
                <a:solidFill>
                  <a:srgbClr val="E11D48"/>
                </a:solidFill>
              </a:defRPr>
            </a:pPr>
            <a:r>
              <a:t>MUTATION TESTING: THE REAL VALIDATION</a:t>
            </a:r>
          </a:p>
          <a:p>
            <a:pPr>
              <a:spcBef>
                <a:spcPts val="200"/>
              </a:spcBef>
              <a:defRPr sz="950">
                <a:solidFill>
                  <a:srgbClr val="0F172A"/>
                </a:solidFill>
              </a:defRPr>
            </a:pPr>
            <a:r>
              <a:t>correct PySpark → inject semantic bug → reconciliation MUST detect → difference analyzer MUST localize → repair MUST recover parity. This tests whether the system is genuinely intelligent, not just whether it compiles.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2563EB"/>
                </a:solidFill>
              </a:defRPr>
            </a:pPr>
            <a:r>
              <a:t>DATABRICKS-NATIVE RUNTIME</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0F172A"/>
                </a:solidFill>
              </a:defRPr>
            </a:pPr>
            <a:r>
              <a:t>Verified With Conditions: FastAPI App → Lakeflow Jobs → UC Volumes</a:t>
            </a:r>
          </a:p>
          <a:p>
            <a:pPr>
              <a:spcBef>
                <a:spcPts val="300"/>
              </a:spcBef>
              <a:defRPr sz="1050">
                <a:solidFill>
                  <a:srgbClr val="64748B"/>
                </a:solidFill>
              </a:defRPr>
            </a:pPr>
            <a:r>
              <a:t>Primary-source verified against current Databricks documentation. Each component independently confirmed.</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94A3B8"/>
                </a:solidFill>
              </a:defRPr>
            </a:pPr>
            <a:r>
              <a:t>SAS → PySpark Migration OS  ·  Architectural Evolution  ·  17/18</a:t>
            </a:r>
          </a:p>
        </p:txBody>
      </p:sp>
      <p:sp>
        <p:nvSpPr>
          <p:cNvPr id="6" name="Rounded Rectangle 5"/>
          <p:cNvSpPr/>
          <p:nvPr/>
        </p:nvSpPr>
        <p:spPr>
          <a:xfrm>
            <a:off x="731520" y="1600200"/>
            <a:ext cx="1069848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68680" y="1746504"/>
            <a:ext cx="146304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VERIFIED</a:t>
            </a:r>
          </a:p>
        </p:txBody>
      </p:sp>
      <p:sp>
        <p:nvSpPr>
          <p:cNvPr id="8" name="TextBox 7"/>
          <p:cNvSpPr txBox="1"/>
          <p:nvPr/>
        </p:nvSpPr>
        <p:spPr>
          <a:xfrm>
            <a:off x="2468880" y="1691640"/>
            <a:ext cx="8778240" cy="512064"/>
          </a:xfrm>
          <a:prstGeom prst="rect">
            <a:avLst/>
          </a:prstGeom>
          <a:noFill/>
        </p:spPr>
        <p:txBody>
          <a:bodyPr wrap="square" lIns="0" tIns="0" rIns="0" bIns="0">
            <a:spAutoFit/>
          </a:bodyPr>
          <a:lstStyle/>
          <a:p>
            <a:pPr>
              <a:defRPr sz="1050" b="1">
                <a:solidFill>
                  <a:srgbClr val="0F172A"/>
                </a:solidFill>
              </a:defRPr>
            </a:pPr>
            <a:r>
              <a:t>FastAPI in Databricks Apps</a:t>
            </a:r>
          </a:p>
          <a:p>
            <a:pPr>
              <a:spcBef>
                <a:spcPts val="200"/>
              </a:spcBef>
              <a:defRPr sz="900">
                <a:solidFill>
                  <a:srgbClr val="64748B"/>
                </a:solidFill>
              </a:defRPr>
            </a:pPr>
            <a:r>
              <a:t>App environment exposes FastAPI/Uvicorn config. Apps intended for application workloads.</a:t>
            </a:r>
          </a:p>
        </p:txBody>
      </p:sp>
      <p:sp>
        <p:nvSpPr>
          <p:cNvPr id="9" name="Rounded Rectangle 8"/>
          <p:cNvSpPr/>
          <p:nvPr/>
        </p:nvSpPr>
        <p:spPr>
          <a:xfrm>
            <a:off x="731520" y="2313432"/>
            <a:ext cx="1069848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8680" y="2459736"/>
            <a:ext cx="146304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VERIFIED</a:t>
            </a:r>
          </a:p>
        </p:txBody>
      </p:sp>
      <p:sp>
        <p:nvSpPr>
          <p:cNvPr id="11" name="TextBox 10"/>
          <p:cNvSpPr txBox="1"/>
          <p:nvPr/>
        </p:nvSpPr>
        <p:spPr>
          <a:xfrm>
            <a:off x="2468880" y="2404872"/>
            <a:ext cx="8778240" cy="512064"/>
          </a:xfrm>
          <a:prstGeom prst="rect">
            <a:avLst/>
          </a:prstGeom>
          <a:noFill/>
        </p:spPr>
        <p:txBody>
          <a:bodyPr wrap="square" lIns="0" tIns="0" rIns="0" bIns="0">
            <a:spAutoFit/>
          </a:bodyPr>
          <a:lstStyle/>
          <a:p>
            <a:pPr>
              <a:defRPr sz="1050" b="1">
                <a:solidFill>
                  <a:srgbClr val="0F172A"/>
                </a:solidFill>
              </a:defRPr>
            </a:pPr>
            <a:r>
              <a:t>App → Databricks Auth</a:t>
            </a:r>
          </a:p>
          <a:p>
            <a:pPr>
              <a:spcBef>
                <a:spcPts val="200"/>
              </a:spcBef>
              <a:defRPr sz="900">
                <a:solidFill>
                  <a:srgbClr val="64748B"/>
                </a:solidFill>
              </a:defRPr>
            </a:pPr>
            <a:r>
              <a:t>Dedicated service principal per app. SDK discovers OAuth credentials from environment.</a:t>
            </a:r>
          </a:p>
        </p:txBody>
      </p:sp>
      <p:sp>
        <p:nvSpPr>
          <p:cNvPr id="12" name="Rounded Rectangle 11"/>
          <p:cNvSpPr/>
          <p:nvPr/>
        </p:nvSpPr>
        <p:spPr>
          <a:xfrm>
            <a:off x="731520" y="3026664"/>
            <a:ext cx="1069848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68680" y="3172968"/>
            <a:ext cx="146304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VERIFIED</a:t>
            </a:r>
          </a:p>
        </p:txBody>
      </p:sp>
      <p:sp>
        <p:nvSpPr>
          <p:cNvPr id="14" name="TextBox 13"/>
          <p:cNvSpPr txBox="1"/>
          <p:nvPr/>
        </p:nvSpPr>
        <p:spPr>
          <a:xfrm>
            <a:off x="2468880" y="3118104"/>
            <a:ext cx="8778240" cy="512064"/>
          </a:xfrm>
          <a:prstGeom prst="rect">
            <a:avLst/>
          </a:prstGeom>
          <a:noFill/>
        </p:spPr>
        <p:txBody>
          <a:bodyPr wrap="square" lIns="0" tIns="0" rIns="0" bIns="0">
            <a:spAutoFit/>
          </a:bodyPr>
          <a:lstStyle/>
          <a:p>
            <a:pPr>
              <a:defRPr sz="1050" b="1">
                <a:solidFill>
                  <a:srgbClr val="0F172A"/>
                </a:solidFill>
              </a:defRPr>
            </a:pPr>
            <a:r>
              <a:t>App → Lakeflow Job dispatch</a:t>
            </a:r>
          </a:p>
          <a:p>
            <a:pPr>
              <a:spcBef>
                <a:spcPts val="200"/>
              </a:spcBef>
              <a:defRPr sz="900">
                <a:solidFill>
                  <a:srgbClr val="64748B"/>
                </a:solidFill>
              </a:defRPr>
            </a:pPr>
            <a:r>
              <a:t>Lakeflow Jobs resource grants Can manage run. App SP triggers/cancels job runs.</a:t>
            </a:r>
          </a:p>
        </p:txBody>
      </p:sp>
      <p:sp>
        <p:nvSpPr>
          <p:cNvPr id="15" name="Rounded Rectangle 14"/>
          <p:cNvSpPr/>
          <p:nvPr/>
        </p:nvSpPr>
        <p:spPr>
          <a:xfrm>
            <a:off x="731520" y="3739896"/>
            <a:ext cx="1069848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3886200"/>
            <a:ext cx="1463040" cy="36576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VERIFIED</a:t>
            </a:r>
          </a:p>
        </p:txBody>
      </p:sp>
      <p:sp>
        <p:nvSpPr>
          <p:cNvPr id="17" name="TextBox 16"/>
          <p:cNvSpPr txBox="1"/>
          <p:nvPr/>
        </p:nvSpPr>
        <p:spPr>
          <a:xfrm>
            <a:off x="2468880" y="3831336"/>
            <a:ext cx="8778240" cy="512064"/>
          </a:xfrm>
          <a:prstGeom prst="rect">
            <a:avLst/>
          </a:prstGeom>
          <a:noFill/>
        </p:spPr>
        <p:txBody>
          <a:bodyPr wrap="square" lIns="0" tIns="0" rIns="0" bIns="0">
            <a:spAutoFit/>
          </a:bodyPr>
          <a:lstStyle/>
          <a:p>
            <a:pPr>
              <a:defRPr sz="1050" b="1">
                <a:solidFill>
                  <a:srgbClr val="0F172A"/>
                </a:solidFill>
              </a:defRPr>
            </a:pPr>
            <a:r>
              <a:t>Dynamic PySpark via spark_python_task</a:t>
            </a:r>
          </a:p>
          <a:p>
            <a:pPr>
              <a:spcBef>
                <a:spcPts val="200"/>
              </a:spcBef>
              <a:defRPr sz="900">
                <a:solidFill>
                  <a:srgbClr val="64748B"/>
                </a:solidFill>
              </a:defRPr>
            </a:pPr>
            <a:r>
              <a:t>Jobs API python_file supports workspace paths and UC Volume URIs.</a:t>
            </a:r>
          </a:p>
        </p:txBody>
      </p:sp>
      <p:sp>
        <p:nvSpPr>
          <p:cNvPr id="18" name="Rounded Rectangle 17"/>
          <p:cNvSpPr/>
          <p:nvPr/>
        </p:nvSpPr>
        <p:spPr>
          <a:xfrm>
            <a:off x="731520" y="4453128"/>
            <a:ext cx="1069848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68680" y="4599432"/>
            <a:ext cx="1463040" cy="36576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CONDITIONAL</a:t>
            </a:r>
          </a:p>
        </p:txBody>
      </p:sp>
      <p:sp>
        <p:nvSpPr>
          <p:cNvPr id="20" name="TextBox 19"/>
          <p:cNvSpPr txBox="1"/>
          <p:nvPr/>
        </p:nvSpPr>
        <p:spPr>
          <a:xfrm>
            <a:off x="2468880" y="4544568"/>
            <a:ext cx="8778240" cy="512064"/>
          </a:xfrm>
          <a:prstGeom prst="rect">
            <a:avLst/>
          </a:prstGeom>
          <a:noFill/>
        </p:spPr>
        <p:txBody>
          <a:bodyPr wrap="square" lIns="0" tIns="0" rIns="0" bIns="0">
            <a:spAutoFit/>
          </a:bodyPr>
          <a:lstStyle/>
          <a:p>
            <a:pPr>
              <a:defRPr sz="1050" b="1">
                <a:solidFill>
                  <a:srgbClr val="0F172A"/>
                </a:solidFill>
              </a:defRPr>
            </a:pPr>
            <a:r>
              <a:t>UC Volume staging</a:t>
            </a:r>
          </a:p>
          <a:p>
            <a:pPr>
              <a:spcBef>
                <a:spcPts val="200"/>
              </a:spcBef>
              <a:defRPr sz="900">
                <a:solidFill>
                  <a:srgbClr val="64748B"/>
                </a:solidFill>
              </a:defRPr>
            </a:pPr>
            <a:r>
              <a:t>Requires MANAGE privilege prerequisites. Auto-grant is conditional, not automatic.</a:t>
            </a:r>
          </a:p>
        </p:txBody>
      </p:sp>
      <p:sp>
        <p:nvSpPr>
          <p:cNvPr id="21" name="Rounded Rectangle 20"/>
          <p:cNvSpPr/>
          <p:nvPr/>
        </p:nvSpPr>
        <p:spPr>
          <a:xfrm>
            <a:off x="731520" y="5166360"/>
            <a:ext cx="10698480" cy="6583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68680" y="5312664"/>
            <a:ext cx="1463040" cy="36576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FFFFFF"/>
                </a:solidFill>
              </a:defRPr>
            </a:pPr>
            <a:r>
              <a:t>UNPROVEN</a:t>
            </a:r>
          </a:p>
        </p:txBody>
      </p:sp>
      <p:sp>
        <p:nvSpPr>
          <p:cNvPr id="23" name="TextBox 22"/>
          <p:cNvSpPr txBox="1"/>
          <p:nvPr/>
        </p:nvSpPr>
        <p:spPr>
          <a:xfrm>
            <a:off x="2468880" y="5257800"/>
            <a:ext cx="8778240" cy="512064"/>
          </a:xfrm>
          <a:prstGeom prst="rect">
            <a:avLst/>
          </a:prstGeom>
          <a:noFill/>
        </p:spPr>
        <p:txBody>
          <a:bodyPr wrap="square" lIns="0" tIns="0" rIns="0" bIns="0">
            <a:spAutoFit/>
          </a:bodyPr>
          <a:lstStyle/>
          <a:p>
            <a:pPr>
              <a:defRPr sz="1050" b="1">
                <a:solidFill>
                  <a:srgbClr val="0F172A"/>
                </a:solidFill>
              </a:defRPr>
            </a:pPr>
            <a:r>
              <a:t>SAS reference execution</a:t>
            </a:r>
          </a:p>
          <a:p>
            <a:pPr>
              <a:spcBef>
                <a:spcPts val="200"/>
              </a:spcBef>
              <a:defRPr sz="900">
                <a:solidFill>
                  <a:srgbClr val="64748B"/>
                </a:solidFill>
              </a:defRPr>
            </a:pPr>
            <a:r>
              <a:t>No native SAS runtime in Databricks. Requires containerized SAS or pre-computed extracts.</a:t>
            </a:r>
          </a:p>
        </p:txBody>
      </p:sp>
      <p:sp>
        <p:nvSpPr>
          <p:cNvPr id="24" name="Rounded Rectangle 23"/>
          <p:cNvSpPr/>
          <p:nvPr/>
        </p:nvSpPr>
        <p:spPr>
          <a:xfrm>
            <a:off x="731520" y="5897880"/>
            <a:ext cx="10698480" cy="45720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971032"/>
            <a:ext cx="10424160" cy="320040"/>
          </a:xfrm>
          <a:prstGeom prst="rect">
            <a:avLst/>
          </a:prstGeom>
          <a:noFill/>
        </p:spPr>
        <p:txBody>
          <a:bodyPr wrap="square" lIns="0" tIns="0" rIns="0" bIns="0">
            <a:spAutoFit/>
          </a:bodyPr>
          <a:lstStyle/>
          <a:p>
            <a:pPr>
              <a:defRPr sz="900" b="1">
                <a:solidFill>
                  <a:srgbClr val="4F46E5"/>
                </a:solidFill>
              </a:defRPr>
            </a:pPr>
            <a:r>
              <a:t>KEY ARCHITECTURAL RULE</a:t>
            </a:r>
          </a:p>
          <a:p>
            <a:pPr>
              <a:spcBef>
                <a:spcPts val="200"/>
              </a:spcBef>
              <a:defRPr sz="950">
                <a:solidFill>
                  <a:srgbClr val="0F172A"/>
                </a:solidFill>
              </a:defRPr>
            </a:pPr>
            <a:r>
              <a:t>FastAPI is the control plane. Spark is the execution plane. The control plane NEVER executes untrusted SAS or PySpark code. All execution is delegated to ephemeral Databricks Jobs.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0F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56032"/>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850" b="1">
                <a:solidFill>
                  <a:srgbClr val="94A3B8"/>
                </a:solidFill>
              </a:defRPr>
            </a:pPr>
            <a:r>
              <a:t>IMPLEMENTATION STRATEGY</a:t>
            </a:r>
          </a:p>
        </p:txBody>
      </p:sp>
      <p:sp>
        <p:nvSpPr>
          <p:cNvPr id="4" name="TextBox 3"/>
          <p:cNvSpPr txBox="1"/>
          <p:nvPr/>
        </p:nvSpPr>
        <p:spPr>
          <a:xfrm>
            <a:off x="731520" y="676656"/>
            <a:ext cx="10698480" cy="777240"/>
          </a:xfrm>
          <a:prstGeom prst="rect">
            <a:avLst/>
          </a:prstGeom>
          <a:noFill/>
        </p:spPr>
        <p:txBody>
          <a:bodyPr wrap="square" lIns="0" tIns="0" rIns="0" bIns="0">
            <a:spAutoFit/>
          </a:bodyPr>
          <a:lstStyle/>
          <a:p>
            <a:pPr>
              <a:defRPr sz="2000" b="1">
                <a:solidFill>
                  <a:srgbClr val="FFFFFF"/>
                </a:solidFill>
              </a:defRPr>
            </a:pPr>
            <a:r>
              <a:t>The Locked Build Order: What NOT to Build First</a:t>
            </a:r>
          </a:p>
          <a:p>
            <a:pPr>
              <a:spcBef>
                <a:spcPts val="300"/>
              </a:spcBef>
              <a:defRPr sz="1050">
                <a:solidFill>
                  <a:srgbClr val="94A3B8"/>
                </a:solidFill>
              </a:defRPr>
            </a:pPr>
            <a:r>
              <a:t>The strongest architecture is one where replacing any provider never requires rewriting the migration logic.</a:t>
            </a:r>
          </a:p>
        </p:txBody>
      </p:sp>
      <p:sp>
        <p:nvSpPr>
          <p:cNvPr id="5" name="TextBox 4"/>
          <p:cNvSpPr txBox="1"/>
          <p:nvPr/>
        </p:nvSpPr>
        <p:spPr>
          <a:xfrm>
            <a:off x="731520" y="6473952"/>
            <a:ext cx="10698480" cy="228600"/>
          </a:xfrm>
          <a:prstGeom prst="rect">
            <a:avLst/>
          </a:prstGeom>
          <a:noFill/>
        </p:spPr>
        <p:txBody>
          <a:bodyPr wrap="none" lIns="0" tIns="0" rIns="0" bIns="0">
            <a:spAutoFit/>
          </a:bodyPr>
          <a:lstStyle/>
          <a:p>
            <a:pPr>
              <a:defRPr sz="800">
                <a:solidFill>
                  <a:srgbClr val="64748B"/>
                </a:solidFill>
              </a:defRPr>
            </a:pPr>
            <a:r>
              <a:t>SAS → PySpark Migration OS  ·  Architectural Evolution  ·  18/18</a:t>
            </a:r>
          </a:p>
        </p:txBody>
      </p:sp>
      <p:sp>
        <p:nvSpPr>
          <p:cNvPr id="6" name="Rounded Rectangle 5"/>
          <p:cNvSpPr/>
          <p:nvPr/>
        </p:nvSpPr>
        <p:spPr>
          <a:xfrm>
            <a:off x="731520" y="1536192"/>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63624"/>
            <a:ext cx="10332720" cy="228600"/>
          </a:xfrm>
          <a:prstGeom prst="rect">
            <a:avLst/>
          </a:prstGeom>
          <a:noFill/>
        </p:spPr>
        <p:txBody>
          <a:bodyPr wrap="square" lIns="0" tIns="0" rIns="0" bIns="0">
            <a:spAutoFit/>
          </a:bodyPr>
          <a:lstStyle/>
          <a:p>
            <a:pPr>
              <a:defRPr sz="900"/>
            </a:pPr>
            <a:r>
              <a:rPr b="1">
                <a:solidFill>
                  <a:srgbClr val="059669"/>
                </a:solidFill>
                <a:latin typeface="Consolas"/>
              </a:rPr>
              <a:t>  1. </a:t>
            </a:r>
            <a:r>
              <a:rPr>
                <a:solidFill>
                  <a:srgbClr val="FFFFFF"/>
                </a:solidFill>
              </a:rPr>
              <a:t>Microkernel + capability contracts</a:t>
            </a:r>
            <a:r>
              <a:rPr b="1">
                <a:solidFill>
                  <a:srgbClr val="059669"/>
                </a:solidFill>
                <a:latin typeface="Consolas"/>
              </a:rPr>
              <a:t>  [DONE]</a:t>
            </a:r>
          </a:p>
        </p:txBody>
      </p:sp>
      <p:sp>
        <p:nvSpPr>
          <p:cNvPr id="8" name="Rounded Rectangle 7"/>
          <p:cNvSpPr/>
          <p:nvPr/>
        </p:nvSpPr>
        <p:spPr>
          <a:xfrm>
            <a:off x="731520" y="1847088"/>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874520"/>
            <a:ext cx="10332720" cy="228600"/>
          </a:xfrm>
          <a:prstGeom prst="rect">
            <a:avLst/>
          </a:prstGeom>
          <a:noFill/>
        </p:spPr>
        <p:txBody>
          <a:bodyPr wrap="square" lIns="0" tIns="0" rIns="0" bIns="0">
            <a:spAutoFit/>
          </a:bodyPr>
          <a:lstStyle/>
          <a:p>
            <a:pPr>
              <a:defRPr sz="900"/>
            </a:pPr>
            <a:r>
              <a:rPr b="1">
                <a:solidFill>
                  <a:srgbClr val="059669"/>
                </a:solidFill>
                <a:latin typeface="Consolas"/>
              </a:rPr>
              <a:t>  2. </a:t>
            </a:r>
            <a:r>
              <a:rPr>
                <a:solidFill>
                  <a:srgbClr val="FFFFFF"/>
                </a:solidFill>
              </a:rPr>
              <a:t>Typed event fabric with waterfall semantics</a:t>
            </a:r>
            <a:r>
              <a:rPr b="1">
                <a:solidFill>
                  <a:srgbClr val="059669"/>
                </a:solidFill>
                <a:latin typeface="Consolas"/>
              </a:rPr>
              <a:t>  [DONE]</a:t>
            </a:r>
          </a:p>
        </p:txBody>
      </p:sp>
      <p:sp>
        <p:nvSpPr>
          <p:cNvPr id="10" name="Rounded Rectangle 9"/>
          <p:cNvSpPr/>
          <p:nvPr/>
        </p:nvSpPr>
        <p:spPr>
          <a:xfrm>
            <a:off x="731520" y="2157984"/>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185416"/>
            <a:ext cx="10332720" cy="228600"/>
          </a:xfrm>
          <a:prstGeom prst="rect">
            <a:avLst/>
          </a:prstGeom>
          <a:noFill/>
        </p:spPr>
        <p:txBody>
          <a:bodyPr wrap="square" lIns="0" tIns="0" rIns="0" bIns="0">
            <a:spAutoFit/>
          </a:bodyPr>
          <a:lstStyle/>
          <a:p>
            <a:pPr>
              <a:defRPr sz="900"/>
            </a:pPr>
            <a:r>
              <a:rPr b="1">
                <a:solidFill>
                  <a:srgbClr val="059669"/>
                </a:solidFill>
                <a:latin typeface="Consolas"/>
              </a:rPr>
              <a:t>  3. </a:t>
            </a:r>
            <a:r>
              <a:rPr>
                <a:solidFill>
                  <a:srgbClr val="FFFFFF"/>
                </a:solidFill>
              </a:rPr>
              <a:t>Event-sourced session + projections + fork/replay</a:t>
            </a:r>
            <a:r>
              <a:rPr b="1">
                <a:solidFill>
                  <a:srgbClr val="059669"/>
                </a:solidFill>
                <a:latin typeface="Consolas"/>
              </a:rPr>
              <a:t>  [DONE]</a:t>
            </a:r>
          </a:p>
        </p:txBody>
      </p:sp>
      <p:sp>
        <p:nvSpPr>
          <p:cNvPr id="12" name="Rounded Rectangle 11"/>
          <p:cNvSpPr/>
          <p:nvPr/>
        </p:nvSpPr>
        <p:spPr>
          <a:xfrm>
            <a:off x="731520" y="2468880"/>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496312"/>
            <a:ext cx="10332720" cy="228600"/>
          </a:xfrm>
          <a:prstGeom prst="rect">
            <a:avLst/>
          </a:prstGeom>
          <a:noFill/>
        </p:spPr>
        <p:txBody>
          <a:bodyPr wrap="square" lIns="0" tIns="0" rIns="0" bIns="0">
            <a:spAutoFit/>
          </a:bodyPr>
          <a:lstStyle/>
          <a:p>
            <a:pPr>
              <a:defRPr sz="900"/>
            </a:pPr>
            <a:r>
              <a:rPr b="1">
                <a:solidFill>
                  <a:srgbClr val="059669"/>
                </a:solidFill>
                <a:latin typeface="Consolas"/>
              </a:rPr>
              <a:t>  4. </a:t>
            </a:r>
            <a:r>
              <a:rPr>
                <a:solidFill>
                  <a:srgbClr val="FFFFFF"/>
                </a:solidFill>
              </a:rPr>
              <a:t>Tool execution middleware + monotonic guards</a:t>
            </a:r>
            <a:r>
              <a:rPr b="1">
                <a:solidFill>
                  <a:srgbClr val="059669"/>
                </a:solidFill>
                <a:latin typeface="Consolas"/>
              </a:rPr>
              <a:t>  [DONE]</a:t>
            </a:r>
          </a:p>
        </p:txBody>
      </p:sp>
      <p:sp>
        <p:nvSpPr>
          <p:cNvPr id="14" name="Rounded Rectangle 13"/>
          <p:cNvSpPr/>
          <p:nvPr/>
        </p:nvSpPr>
        <p:spPr>
          <a:xfrm>
            <a:off x="731520" y="2779776"/>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807208"/>
            <a:ext cx="10332720" cy="228600"/>
          </a:xfrm>
          <a:prstGeom prst="rect">
            <a:avLst/>
          </a:prstGeom>
          <a:noFill/>
        </p:spPr>
        <p:txBody>
          <a:bodyPr wrap="square" lIns="0" tIns="0" rIns="0" bIns="0">
            <a:spAutoFit/>
          </a:bodyPr>
          <a:lstStyle/>
          <a:p>
            <a:pPr>
              <a:defRPr sz="900"/>
            </a:pPr>
            <a:r>
              <a:rPr b="1">
                <a:solidFill>
                  <a:srgbClr val="059669"/>
                </a:solidFill>
                <a:latin typeface="Consolas"/>
              </a:rPr>
              <a:t>  5. </a:t>
            </a:r>
            <a:r>
              <a:rPr>
                <a:solidFill>
                  <a:srgbClr val="FFFFFF"/>
                </a:solidFill>
              </a:rPr>
              <a:t>Artifact ledger + immutable snapshots</a:t>
            </a:r>
            <a:r>
              <a:rPr b="1">
                <a:solidFill>
                  <a:srgbClr val="059669"/>
                </a:solidFill>
                <a:latin typeface="Consolas"/>
              </a:rPr>
              <a:t>  [DONE]</a:t>
            </a:r>
          </a:p>
        </p:txBody>
      </p:sp>
      <p:sp>
        <p:nvSpPr>
          <p:cNvPr id="16" name="Rounded Rectangle 15"/>
          <p:cNvSpPr/>
          <p:nvPr/>
        </p:nvSpPr>
        <p:spPr>
          <a:xfrm>
            <a:off x="731520" y="3090672"/>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118104"/>
            <a:ext cx="10332720" cy="228600"/>
          </a:xfrm>
          <a:prstGeom prst="rect">
            <a:avLst/>
          </a:prstGeom>
          <a:noFill/>
        </p:spPr>
        <p:txBody>
          <a:bodyPr wrap="square" lIns="0" tIns="0" rIns="0" bIns="0">
            <a:spAutoFit/>
          </a:bodyPr>
          <a:lstStyle/>
          <a:p>
            <a:pPr>
              <a:defRPr sz="900"/>
            </a:pPr>
            <a:r>
              <a:rPr b="1">
                <a:solidFill>
                  <a:srgbClr val="059669"/>
                </a:solidFill>
                <a:latin typeface="Consolas"/>
              </a:rPr>
              <a:t>  6. </a:t>
            </a:r>
            <a:r>
              <a:rPr>
                <a:solidFill>
                  <a:srgbClr val="FFFFFF"/>
                </a:solidFill>
              </a:rPr>
              <a:t>Sandbox policy/provider separation</a:t>
            </a:r>
            <a:r>
              <a:rPr b="1">
                <a:solidFill>
                  <a:srgbClr val="059669"/>
                </a:solidFill>
                <a:latin typeface="Consolas"/>
              </a:rPr>
              <a:t>  [DONE]</a:t>
            </a:r>
          </a:p>
        </p:txBody>
      </p:sp>
      <p:sp>
        <p:nvSpPr>
          <p:cNvPr id="18" name="Rounded Rectangle 17"/>
          <p:cNvSpPr/>
          <p:nvPr/>
        </p:nvSpPr>
        <p:spPr>
          <a:xfrm>
            <a:off x="731520" y="3401568"/>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429000"/>
            <a:ext cx="10332720" cy="228600"/>
          </a:xfrm>
          <a:prstGeom prst="rect">
            <a:avLst/>
          </a:prstGeom>
          <a:noFill/>
        </p:spPr>
        <p:txBody>
          <a:bodyPr wrap="square" lIns="0" tIns="0" rIns="0" bIns="0">
            <a:spAutoFit/>
          </a:bodyPr>
          <a:lstStyle/>
          <a:p>
            <a:pPr>
              <a:defRPr sz="900"/>
            </a:pPr>
            <a:r>
              <a:rPr b="1">
                <a:solidFill>
                  <a:srgbClr val="059669"/>
                </a:solidFill>
                <a:latin typeface="Consolas"/>
              </a:rPr>
              <a:t>  7. </a:t>
            </a:r>
            <a:r>
              <a:rPr>
                <a:solidFill>
                  <a:srgbClr val="FFFFFF"/>
                </a:solidFill>
              </a:rPr>
              <a:t>Three-level reconciliation engine</a:t>
            </a:r>
            <a:r>
              <a:rPr b="1">
                <a:solidFill>
                  <a:srgbClr val="059669"/>
                </a:solidFill>
                <a:latin typeface="Consolas"/>
              </a:rPr>
              <a:t>  [DONE]</a:t>
            </a:r>
          </a:p>
        </p:txBody>
      </p:sp>
      <p:sp>
        <p:nvSpPr>
          <p:cNvPr id="20" name="Rounded Rectangle 19"/>
          <p:cNvSpPr/>
          <p:nvPr/>
        </p:nvSpPr>
        <p:spPr>
          <a:xfrm>
            <a:off x="731520" y="3712464"/>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739896"/>
            <a:ext cx="10332720" cy="228600"/>
          </a:xfrm>
          <a:prstGeom prst="rect">
            <a:avLst/>
          </a:prstGeom>
          <a:noFill/>
        </p:spPr>
        <p:txBody>
          <a:bodyPr wrap="square" lIns="0" tIns="0" rIns="0" bIns="0">
            <a:spAutoFit/>
          </a:bodyPr>
          <a:lstStyle/>
          <a:p>
            <a:pPr>
              <a:defRPr sz="900"/>
            </a:pPr>
            <a:r>
              <a:rPr b="1">
                <a:solidFill>
                  <a:srgbClr val="F97316"/>
                </a:solidFill>
                <a:latin typeface="Consolas"/>
              </a:rPr>
              <a:t>  8. </a:t>
            </a:r>
            <a:r>
              <a:rPr>
                <a:solidFill>
                  <a:srgbClr val="FFFFFF"/>
                </a:solidFill>
              </a:rPr>
              <a:t>SAS executor + Spark executor (dual runtime)</a:t>
            </a:r>
            <a:r>
              <a:rPr b="1">
                <a:solidFill>
                  <a:srgbClr val="F97316"/>
                </a:solidFill>
                <a:latin typeface="Consolas"/>
              </a:rPr>
              <a:t>  [NEXT]</a:t>
            </a:r>
          </a:p>
        </p:txBody>
      </p:sp>
      <p:sp>
        <p:nvSpPr>
          <p:cNvPr id="22" name="Rounded Rectangle 21"/>
          <p:cNvSpPr/>
          <p:nvPr/>
        </p:nvSpPr>
        <p:spPr>
          <a:xfrm>
            <a:off x="731520" y="4023360"/>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4050792"/>
            <a:ext cx="10332720" cy="228600"/>
          </a:xfrm>
          <a:prstGeom prst="rect">
            <a:avLst/>
          </a:prstGeom>
          <a:noFill/>
        </p:spPr>
        <p:txBody>
          <a:bodyPr wrap="square" lIns="0" tIns="0" rIns="0" bIns="0">
            <a:spAutoFit/>
          </a:bodyPr>
          <a:lstStyle/>
          <a:p>
            <a:pPr>
              <a:defRPr sz="900"/>
            </a:pPr>
            <a:r>
              <a:rPr b="1">
                <a:solidFill>
                  <a:srgbClr val="2563EB"/>
                </a:solidFill>
                <a:latin typeface="Consolas"/>
              </a:rPr>
              <a:t>  9. </a:t>
            </a:r>
            <a:r>
              <a:rPr>
                <a:solidFill>
                  <a:srgbClr val="FFFFFF"/>
                </a:solidFill>
              </a:rPr>
              <a:t>SAS semantic IR + provenance</a:t>
            </a:r>
            <a:r>
              <a:rPr b="1">
                <a:solidFill>
                  <a:srgbClr val="2563EB"/>
                </a:solidFill>
                <a:latin typeface="Consolas"/>
              </a:rPr>
              <a:t>  [PLANNED]</a:t>
            </a:r>
          </a:p>
        </p:txBody>
      </p:sp>
      <p:sp>
        <p:nvSpPr>
          <p:cNvPr id="24" name="Rounded Rectangle 23"/>
          <p:cNvSpPr/>
          <p:nvPr/>
        </p:nvSpPr>
        <p:spPr>
          <a:xfrm>
            <a:off x="731520" y="4334256"/>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361688"/>
            <a:ext cx="10332720" cy="228600"/>
          </a:xfrm>
          <a:prstGeom prst="rect">
            <a:avLst/>
          </a:prstGeom>
          <a:noFill/>
        </p:spPr>
        <p:txBody>
          <a:bodyPr wrap="square" lIns="0" tIns="0" rIns="0" bIns="0">
            <a:spAutoFit/>
          </a:bodyPr>
          <a:lstStyle/>
          <a:p>
            <a:pPr>
              <a:defRPr sz="900"/>
            </a:pPr>
            <a:r>
              <a:rPr b="1">
                <a:solidFill>
                  <a:srgbClr val="2563EB"/>
                </a:solidFill>
                <a:latin typeface="Consolas"/>
              </a:rPr>
              <a:t> 10. </a:t>
            </a:r>
            <a:r>
              <a:rPr>
                <a:solidFill>
                  <a:srgbClr val="FFFFFF"/>
                </a:solidFill>
              </a:rPr>
              <a:t>Difference Analyzer + counterexample engine</a:t>
            </a:r>
            <a:r>
              <a:rPr b="1">
                <a:solidFill>
                  <a:srgbClr val="2563EB"/>
                </a:solidFill>
                <a:latin typeface="Consolas"/>
              </a:rPr>
              <a:t>  [PLANNED]</a:t>
            </a:r>
          </a:p>
        </p:txBody>
      </p:sp>
      <p:sp>
        <p:nvSpPr>
          <p:cNvPr id="26" name="Rounded Rectangle 25"/>
          <p:cNvSpPr/>
          <p:nvPr/>
        </p:nvSpPr>
        <p:spPr>
          <a:xfrm>
            <a:off x="731520" y="4645152"/>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672584"/>
            <a:ext cx="10332720" cy="228600"/>
          </a:xfrm>
          <a:prstGeom prst="rect">
            <a:avLst/>
          </a:prstGeom>
          <a:noFill/>
        </p:spPr>
        <p:txBody>
          <a:bodyPr wrap="square" lIns="0" tIns="0" rIns="0" bIns="0">
            <a:spAutoFit/>
          </a:bodyPr>
          <a:lstStyle/>
          <a:p>
            <a:pPr>
              <a:defRPr sz="900"/>
            </a:pPr>
            <a:r>
              <a:rPr b="1">
                <a:solidFill>
                  <a:srgbClr val="4F46E5"/>
                </a:solidFill>
                <a:latin typeface="Consolas"/>
              </a:rPr>
              <a:t> 11. </a:t>
            </a:r>
            <a:r>
              <a:rPr>
                <a:solidFill>
                  <a:srgbClr val="FFFFFF"/>
                </a:solidFill>
              </a:rPr>
              <a:t>Translation agent (rule + LLM hybrid)</a:t>
            </a:r>
            <a:r>
              <a:rPr b="1">
                <a:solidFill>
                  <a:srgbClr val="4F46E5"/>
                </a:solidFill>
                <a:latin typeface="Consolas"/>
              </a:rPr>
              <a:t>  [PLANNED]</a:t>
            </a:r>
          </a:p>
        </p:txBody>
      </p:sp>
      <p:sp>
        <p:nvSpPr>
          <p:cNvPr id="28" name="Rounded Rectangle 27"/>
          <p:cNvSpPr/>
          <p:nvPr/>
        </p:nvSpPr>
        <p:spPr>
          <a:xfrm>
            <a:off x="731520" y="4956048"/>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4983480"/>
            <a:ext cx="10332720" cy="228600"/>
          </a:xfrm>
          <a:prstGeom prst="rect">
            <a:avLst/>
          </a:prstGeom>
          <a:noFill/>
        </p:spPr>
        <p:txBody>
          <a:bodyPr wrap="square" lIns="0" tIns="0" rIns="0" bIns="0">
            <a:spAutoFit/>
          </a:bodyPr>
          <a:lstStyle/>
          <a:p>
            <a:pPr>
              <a:defRPr sz="900"/>
            </a:pPr>
            <a:r>
              <a:rPr b="1">
                <a:solidFill>
                  <a:srgbClr val="4F46E5"/>
                </a:solidFill>
                <a:latin typeface="Consolas"/>
              </a:rPr>
              <a:t> 12. </a:t>
            </a:r>
            <a:r>
              <a:rPr>
                <a:solidFill>
                  <a:srgbClr val="FFFFFF"/>
                </a:solidFill>
              </a:rPr>
              <a:t>Verified repair engine + candidate branching</a:t>
            </a:r>
            <a:r>
              <a:rPr b="1">
                <a:solidFill>
                  <a:srgbClr val="4F46E5"/>
                </a:solidFill>
                <a:latin typeface="Consolas"/>
              </a:rPr>
              <a:t>  [PLANNED]</a:t>
            </a:r>
          </a:p>
        </p:txBody>
      </p:sp>
      <p:sp>
        <p:nvSpPr>
          <p:cNvPr id="30" name="Rounded Rectangle 29"/>
          <p:cNvSpPr/>
          <p:nvPr/>
        </p:nvSpPr>
        <p:spPr>
          <a:xfrm>
            <a:off x="731520" y="5266944"/>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294376"/>
            <a:ext cx="10332720" cy="228600"/>
          </a:xfrm>
          <a:prstGeom prst="rect">
            <a:avLst/>
          </a:prstGeom>
          <a:noFill/>
        </p:spPr>
        <p:txBody>
          <a:bodyPr wrap="square" lIns="0" tIns="0" rIns="0" bIns="0">
            <a:spAutoFit/>
          </a:bodyPr>
          <a:lstStyle/>
          <a:p>
            <a:pPr>
              <a:defRPr sz="900"/>
            </a:pPr>
            <a:r>
              <a:rPr b="1">
                <a:solidFill>
                  <a:srgbClr val="7C3AED"/>
                </a:solidFill>
                <a:latin typeface="Consolas"/>
              </a:rPr>
              <a:t> 13. </a:t>
            </a:r>
            <a:r>
              <a:rPr>
                <a:solidFill>
                  <a:srgbClr val="FFFFFF"/>
                </a:solidFill>
              </a:rPr>
              <a:t>Python Code Mode + subagents</a:t>
            </a:r>
            <a:r>
              <a:rPr b="1">
                <a:solidFill>
                  <a:srgbClr val="7C3AED"/>
                </a:solidFill>
                <a:latin typeface="Consolas"/>
              </a:rPr>
              <a:t>  [PLANNED]</a:t>
            </a:r>
          </a:p>
        </p:txBody>
      </p:sp>
      <p:sp>
        <p:nvSpPr>
          <p:cNvPr id="32" name="Rounded Rectangle 31"/>
          <p:cNvSpPr/>
          <p:nvPr/>
        </p:nvSpPr>
        <p:spPr>
          <a:xfrm>
            <a:off x="731520" y="5577840"/>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5605272"/>
            <a:ext cx="10332720" cy="228600"/>
          </a:xfrm>
          <a:prstGeom prst="rect">
            <a:avLst/>
          </a:prstGeom>
          <a:noFill/>
        </p:spPr>
        <p:txBody>
          <a:bodyPr wrap="square" lIns="0" tIns="0" rIns="0" bIns="0">
            <a:spAutoFit/>
          </a:bodyPr>
          <a:lstStyle/>
          <a:p>
            <a:pPr>
              <a:defRPr sz="900"/>
            </a:pPr>
            <a:r>
              <a:rPr b="1">
                <a:solidFill>
                  <a:srgbClr val="94A3B8"/>
                </a:solidFill>
                <a:latin typeface="Consolas"/>
              </a:rPr>
              <a:t> 14. </a:t>
            </a:r>
            <a:r>
              <a:rPr>
                <a:solidFill>
                  <a:srgbClr val="FFFFFF"/>
                </a:solidFill>
              </a:rPr>
              <a:t>Human approval + enterprise security + certificates</a:t>
            </a:r>
            <a:r>
              <a:rPr b="1">
                <a:solidFill>
                  <a:srgbClr val="94A3B8"/>
                </a:solidFill>
                <a:latin typeface="Consolas"/>
              </a:rPr>
              <a:t>  [PLANNED]</a:t>
            </a:r>
          </a:p>
        </p:txBody>
      </p:sp>
      <p:sp>
        <p:nvSpPr>
          <p:cNvPr id="34" name="Rounded Rectangle 33"/>
          <p:cNvSpPr/>
          <p:nvPr/>
        </p:nvSpPr>
        <p:spPr>
          <a:xfrm>
            <a:off x="731520" y="5888736"/>
            <a:ext cx="10698480" cy="274320"/>
          </a:xfrm>
          <a:prstGeom prst="roundRect">
            <a:avLst/>
          </a:prstGeom>
          <a:solidFill>
            <a:srgbClr val="121A2C"/>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916168"/>
            <a:ext cx="10332720" cy="228600"/>
          </a:xfrm>
          <a:prstGeom prst="rect">
            <a:avLst/>
          </a:prstGeom>
          <a:noFill/>
        </p:spPr>
        <p:txBody>
          <a:bodyPr wrap="square" lIns="0" tIns="0" rIns="0" bIns="0">
            <a:spAutoFit/>
          </a:bodyPr>
          <a:lstStyle/>
          <a:p>
            <a:pPr>
              <a:defRPr sz="900"/>
            </a:pPr>
            <a:r>
              <a:rPr b="1">
                <a:solidFill>
                  <a:srgbClr val="94A3B8"/>
                </a:solidFill>
                <a:latin typeface="Consolas"/>
              </a:rPr>
              <a:t> 15. </a:t>
            </a:r>
            <a:r>
              <a:rPr>
                <a:solidFill>
                  <a:srgbClr val="FFFFFF"/>
                </a:solidFill>
              </a:rPr>
              <a:t>Batch migration factory + benchmark suite</a:t>
            </a:r>
            <a:r>
              <a:rPr b="1">
                <a:solidFill>
                  <a:srgbClr val="94A3B8"/>
                </a:solidFill>
                <a:latin typeface="Consolas"/>
              </a:rPr>
              <a:t>  [PLANNED]</a:t>
            </a:r>
          </a:p>
        </p:txBody>
      </p:sp>
      <p:sp>
        <p:nvSpPr>
          <p:cNvPr id="36" name="Rounded Rectangle 35"/>
          <p:cNvSpPr/>
          <p:nvPr/>
        </p:nvSpPr>
        <p:spPr>
          <a:xfrm>
            <a:off x="731520" y="6263640"/>
            <a:ext cx="10698480" cy="502920"/>
          </a:xfrm>
          <a:prstGeom prst="roundRect">
            <a:avLst/>
          </a:prstGeom>
          <a:solidFill>
            <a:srgbClr val="1E293B"/>
          </a:solidFill>
          <a:ln w="12700">
            <a:solidFill>
              <a:srgbClr val="2230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68680" y="6336792"/>
            <a:ext cx="10424160" cy="365760"/>
          </a:xfrm>
          <a:prstGeom prst="rect">
            <a:avLst/>
          </a:prstGeom>
          <a:noFill/>
        </p:spPr>
        <p:txBody>
          <a:bodyPr wrap="square" lIns="0" tIns="0" rIns="0" bIns="0">
            <a:spAutoFit/>
          </a:bodyPr>
          <a:lstStyle/>
          <a:p>
            <a:pPr>
              <a:defRPr sz="900" b="1">
                <a:solidFill>
                  <a:srgbClr val="0EA5E9"/>
                </a:solidFill>
              </a:defRPr>
            </a:pPr>
          </a:p>
          <a:p>
            <a:pPr>
              <a:spcBef>
                <a:spcPts val="200"/>
              </a:spcBef>
              <a:defRPr sz="950">
                <a:solidFill>
                  <a:srgbClr val="0EA5E9"/>
                </a:solidFill>
              </a:defRPr>
            </a:pPr>
            <a:r>
              <a:t>"I would not write the first line of SAS translation code until items 1-7 have their contracts and tests defined." — The strongest system is one where replacing OpenAI with DeepSeek, Docker with Databricks, Postgres with another event store never requires rewriting the migration logic.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